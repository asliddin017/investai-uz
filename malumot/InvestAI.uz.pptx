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al Nova" panose="020F0502020204030204" pitchFamily="34" charset="0"/>
      <p:regular r:id="rId8"/>
    </p:embeddedFont>
    <p:embeddedFont>
      <p:font typeface="Arista Pro" panose="020B0604020202020204" charset="0"/>
      <p:regular r:id="rId9"/>
    </p:embeddedFont>
    <p:embeddedFont>
      <p:font typeface="Cambria" panose="02040503050406030204" pitchFamily="18" charset="0"/>
      <p:regular r:id="rId10"/>
      <p:bold r:id="rId11"/>
      <p:italic r:id="rId12"/>
      <p:boldItalic r:id="rId13"/>
    </p:embeddedFont>
    <p:embeddedFont>
      <p:font typeface="Cambria Bold" panose="02040803050406030204" pitchFamily="18" charset="0"/>
      <p:regular r:id="rId14"/>
      <p:bold r:id="rId15"/>
    </p:embeddedFont>
    <p:embeddedFont>
      <p:font typeface="Inter" panose="020B0604020202020204" charset="0"/>
      <p:regular r:id="rId16"/>
    </p:embeddedFont>
    <p:embeddedFont>
      <p:font typeface="Inter Bold" panose="020B0604020202020204" charset="0"/>
      <p:regular r:id="rId17"/>
    </p:embeddedFont>
    <p:embeddedFont>
      <p:font typeface="Inter Bold Italics" panose="020B0604020202020204" charset="0"/>
      <p:regular r:id="rId18"/>
    </p:embeddedFont>
    <p:embeddedFont>
      <p:font typeface="Inter Italics" panose="020B0604020202020204" charset="0"/>
      <p:regular r:id="rId19"/>
    </p:embeddedFont>
    <p:embeddedFont>
      <p:font typeface="Tahoma" panose="020B0604030504040204" pitchFamily="34" charset="0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81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viewProps" Target="viewProp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</a:blip>
            <a:stretch>
              <a:fillRect t="-12481" b="-1307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301186" y="302638"/>
            <a:ext cx="6677014" cy="7983796"/>
          </a:xfrm>
          <a:custGeom>
            <a:avLst/>
            <a:gdLst/>
            <a:ahLst/>
            <a:cxnLst/>
            <a:rect l="l" t="t" r="r" b="b"/>
            <a:pathLst>
              <a:path w="6677014" h="7983796">
                <a:moveTo>
                  <a:pt x="0" y="0"/>
                </a:moveTo>
                <a:lnTo>
                  <a:pt x="6677013" y="0"/>
                </a:lnTo>
                <a:lnTo>
                  <a:pt x="6677013" y="7983796"/>
                </a:lnTo>
                <a:lnTo>
                  <a:pt x="0" y="79837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9294" t="-768" r="-22933" b="-768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225360" y="7905830"/>
            <a:ext cx="761208" cy="761208"/>
          </a:xfrm>
          <a:custGeom>
            <a:avLst/>
            <a:gdLst/>
            <a:ahLst/>
            <a:cxnLst/>
            <a:rect l="l" t="t" r="r" b="b"/>
            <a:pathLst>
              <a:path w="761208" h="761208">
                <a:moveTo>
                  <a:pt x="0" y="0"/>
                </a:moveTo>
                <a:lnTo>
                  <a:pt x="761208" y="0"/>
                </a:lnTo>
                <a:lnTo>
                  <a:pt x="761208" y="761208"/>
                </a:lnTo>
                <a:lnTo>
                  <a:pt x="0" y="7612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5823767" y="7731400"/>
            <a:ext cx="1129739" cy="1178682"/>
            <a:chOff x="0" y="0"/>
            <a:chExt cx="297544" cy="31043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7544" cy="310435"/>
            </a:xfrm>
            <a:custGeom>
              <a:avLst/>
              <a:gdLst/>
              <a:ahLst/>
              <a:cxnLst/>
              <a:rect l="l" t="t" r="r" b="b"/>
              <a:pathLst>
                <a:path w="297544" h="310435">
                  <a:moveTo>
                    <a:pt x="148772" y="0"/>
                  </a:moveTo>
                  <a:lnTo>
                    <a:pt x="148772" y="0"/>
                  </a:lnTo>
                  <a:cubicBezTo>
                    <a:pt x="230937" y="0"/>
                    <a:pt x="297544" y="66608"/>
                    <a:pt x="297544" y="148772"/>
                  </a:cubicBezTo>
                  <a:lnTo>
                    <a:pt x="297544" y="161663"/>
                  </a:lnTo>
                  <a:cubicBezTo>
                    <a:pt x="297544" y="243827"/>
                    <a:pt x="230937" y="310435"/>
                    <a:pt x="148772" y="310435"/>
                  </a:cubicBezTo>
                  <a:lnTo>
                    <a:pt x="148772" y="310435"/>
                  </a:lnTo>
                  <a:cubicBezTo>
                    <a:pt x="66608" y="310435"/>
                    <a:pt x="0" y="243827"/>
                    <a:pt x="0" y="161663"/>
                  </a:cubicBezTo>
                  <a:lnTo>
                    <a:pt x="0" y="148772"/>
                  </a:lnTo>
                  <a:cubicBezTo>
                    <a:pt x="0" y="66608"/>
                    <a:pt x="66608" y="0"/>
                    <a:pt x="148772" y="0"/>
                  </a:cubicBezTo>
                  <a:close/>
                </a:path>
              </a:pathLst>
            </a:custGeom>
            <a:ln w="38100" cap="rnd">
              <a:solidFill>
                <a:srgbClr val="01E2FF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97544" cy="377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008032" y="7940137"/>
            <a:ext cx="761208" cy="761208"/>
          </a:xfrm>
          <a:custGeom>
            <a:avLst/>
            <a:gdLst/>
            <a:ahLst/>
            <a:cxnLst/>
            <a:rect l="l" t="t" r="r" b="b"/>
            <a:pathLst>
              <a:path w="761208" h="761208">
                <a:moveTo>
                  <a:pt x="0" y="0"/>
                </a:moveTo>
                <a:lnTo>
                  <a:pt x="761208" y="0"/>
                </a:lnTo>
                <a:lnTo>
                  <a:pt x="761208" y="761208"/>
                </a:lnTo>
                <a:lnTo>
                  <a:pt x="0" y="7612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8610856" y="7731400"/>
            <a:ext cx="1155203" cy="1178682"/>
            <a:chOff x="0" y="0"/>
            <a:chExt cx="304251" cy="31043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4251" cy="310435"/>
            </a:xfrm>
            <a:custGeom>
              <a:avLst/>
              <a:gdLst/>
              <a:ahLst/>
              <a:cxnLst/>
              <a:rect l="l" t="t" r="r" b="b"/>
              <a:pathLst>
                <a:path w="304251" h="310435">
                  <a:moveTo>
                    <a:pt x="152125" y="0"/>
                  </a:moveTo>
                  <a:lnTo>
                    <a:pt x="152125" y="0"/>
                  </a:lnTo>
                  <a:cubicBezTo>
                    <a:pt x="236142" y="0"/>
                    <a:pt x="304251" y="68109"/>
                    <a:pt x="304251" y="152125"/>
                  </a:cubicBezTo>
                  <a:lnTo>
                    <a:pt x="304251" y="158309"/>
                  </a:lnTo>
                  <a:cubicBezTo>
                    <a:pt x="304251" y="198656"/>
                    <a:pt x="288223" y="237349"/>
                    <a:pt x="259694" y="265878"/>
                  </a:cubicBezTo>
                  <a:cubicBezTo>
                    <a:pt x="231165" y="294407"/>
                    <a:pt x="192472" y="310435"/>
                    <a:pt x="152125" y="310435"/>
                  </a:cubicBezTo>
                  <a:lnTo>
                    <a:pt x="152125" y="310435"/>
                  </a:lnTo>
                  <a:cubicBezTo>
                    <a:pt x="68109" y="310435"/>
                    <a:pt x="0" y="242326"/>
                    <a:pt x="0" y="158309"/>
                  </a:cubicBezTo>
                  <a:lnTo>
                    <a:pt x="0" y="152125"/>
                  </a:lnTo>
                  <a:cubicBezTo>
                    <a:pt x="0" y="111779"/>
                    <a:pt x="16027" y="73086"/>
                    <a:pt x="44557" y="44557"/>
                  </a:cubicBezTo>
                  <a:cubicBezTo>
                    <a:pt x="73086" y="16027"/>
                    <a:pt x="111779" y="0"/>
                    <a:pt x="152125" y="0"/>
                  </a:cubicBezTo>
                  <a:close/>
                </a:path>
              </a:pathLst>
            </a:custGeom>
            <a:ln w="38100" cap="rnd">
              <a:solidFill>
                <a:srgbClr val="D4A9F4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304251" cy="377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8739276" y="7985761"/>
            <a:ext cx="905630" cy="761208"/>
          </a:xfrm>
          <a:custGeom>
            <a:avLst/>
            <a:gdLst/>
            <a:ahLst/>
            <a:cxnLst/>
            <a:rect l="l" t="t" r="r" b="b"/>
            <a:pathLst>
              <a:path w="905630" h="761208">
                <a:moveTo>
                  <a:pt x="0" y="0"/>
                </a:moveTo>
                <a:lnTo>
                  <a:pt x="905630" y="0"/>
                </a:lnTo>
                <a:lnTo>
                  <a:pt x="905630" y="761208"/>
                </a:lnTo>
                <a:lnTo>
                  <a:pt x="0" y="761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18972"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4332880" y="7731400"/>
            <a:ext cx="1118842" cy="1178682"/>
            <a:chOff x="0" y="0"/>
            <a:chExt cx="294674" cy="31043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94674" cy="310435"/>
            </a:xfrm>
            <a:custGeom>
              <a:avLst/>
              <a:gdLst/>
              <a:ahLst/>
              <a:cxnLst/>
              <a:rect l="l" t="t" r="r" b="b"/>
              <a:pathLst>
                <a:path w="294674" h="310435">
                  <a:moveTo>
                    <a:pt x="147337" y="0"/>
                  </a:moveTo>
                  <a:lnTo>
                    <a:pt x="147337" y="0"/>
                  </a:lnTo>
                  <a:cubicBezTo>
                    <a:pt x="228709" y="0"/>
                    <a:pt x="294674" y="65965"/>
                    <a:pt x="294674" y="147337"/>
                  </a:cubicBezTo>
                  <a:lnTo>
                    <a:pt x="294674" y="163098"/>
                  </a:lnTo>
                  <a:cubicBezTo>
                    <a:pt x="294674" y="202174"/>
                    <a:pt x="279151" y="239650"/>
                    <a:pt x="251520" y="267281"/>
                  </a:cubicBezTo>
                  <a:cubicBezTo>
                    <a:pt x="223889" y="294912"/>
                    <a:pt x="186414" y="310435"/>
                    <a:pt x="147337" y="310435"/>
                  </a:cubicBezTo>
                  <a:lnTo>
                    <a:pt x="147337" y="310435"/>
                  </a:lnTo>
                  <a:cubicBezTo>
                    <a:pt x="65965" y="310435"/>
                    <a:pt x="0" y="244470"/>
                    <a:pt x="0" y="163098"/>
                  </a:cubicBezTo>
                  <a:lnTo>
                    <a:pt x="0" y="147337"/>
                  </a:lnTo>
                  <a:cubicBezTo>
                    <a:pt x="0" y="108261"/>
                    <a:pt x="15523" y="70785"/>
                    <a:pt x="43154" y="43154"/>
                  </a:cubicBezTo>
                  <a:cubicBezTo>
                    <a:pt x="70785" y="15523"/>
                    <a:pt x="108261" y="0"/>
                    <a:pt x="147337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5CE1E6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294674" cy="377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4472083" y="7900523"/>
            <a:ext cx="840437" cy="840437"/>
          </a:xfrm>
          <a:custGeom>
            <a:avLst/>
            <a:gdLst/>
            <a:ahLst/>
            <a:cxnLst/>
            <a:rect l="l" t="t" r="r" b="b"/>
            <a:pathLst>
              <a:path w="840437" h="840437">
                <a:moveTo>
                  <a:pt x="0" y="0"/>
                </a:moveTo>
                <a:lnTo>
                  <a:pt x="840437" y="0"/>
                </a:lnTo>
                <a:lnTo>
                  <a:pt x="840437" y="840437"/>
                </a:lnTo>
                <a:lnTo>
                  <a:pt x="0" y="8404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028700" y="3621959"/>
            <a:ext cx="10006601" cy="26928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218"/>
              </a:lnSpc>
            </a:pP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Хорижий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ва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ҳудудий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инвестицияларни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жалб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қилиш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амалга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оширилган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ташрифларни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мониторинг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қилиш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,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экспорт-импорт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кўрсаткичлари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ва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жараёнларини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 err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интеграциялашган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lang="en-US" sz="3869" dirty="0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Cambria"/>
                <a:ea typeface="Cambria"/>
                <a:cs typeface="Cambria"/>
                <a:sym typeface="Cambria"/>
              </a:rPr>
              <a:t>АХБОРОТ ТИЗИМИ</a:t>
            </a:r>
            <a:r>
              <a:rPr lang="en-US" sz="3869" dirty="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041095" y="7731400"/>
            <a:ext cx="1129739" cy="1178682"/>
            <a:chOff x="0" y="0"/>
            <a:chExt cx="297544" cy="3104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97544" cy="310435"/>
            </a:xfrm>
            <a:custGeom>
              <a:avLst/>
              <a:gdLst/>
              <a:ahLst/>
              <a:cxnLst/>
              <a:rect l="l" t="t" r="r" b="b"/>
              <a:pathLst>
                <a:path w="297544" h="310435">
                  <a:moveTo>
                    <a:pt x="148772" y="0"/>
                  </a:moveTo>
                  <a:lnTo>
                    <a:pt x="148772" y="0"/>
                  </a:lnTo>
                  <a:cubicBezTo>
                    <a:pt x="230937" y="0"/>
                    <a:pt x="297544" y="66608"/>
                    <a:pt x="297544" y="148772"/>
                  </a:cubicBezTo>
                  <a:lnTo>
                    <a:pt x="297544" y="161663"/>
                  </a:lnTo>
                  <a:cubicBezTo>
                    <a:pt x="297544" y="243827"/>
                    <a:pt x="230937" y="310435"/>
                    <a:pt x="148772" y="310435"/>
                  </a:cubicBezTo>
                  <a:lnTo>
                    <a:pt x="148772" y="310435"/>
                  </a:lnTo>
                  <a:cubicBezTo>
                    <a:pt x="66608" y="310435"/>
                    <a:pt x="0" y="243827"/>
                    <a:pt x="0" y="161663"/>
                  </a:cubicBezTo>
                  <a:lnTo>
                    <a:pt x="0" y="148772"/>
                  </a:lnTo>
                  <a:cubicBezTo>
                    <a:pt x="0" y="66608"/>
                    <a:pt x="66608" y="0"/>
                    <a:pt x="148772" y="0"/>
                  </a:cubicBezTo>
                  <a:close/>
                </a:path>
              </a:pathLst>
            </a:custGeom>
            <a:ln w="38100" cap="rnd">
              <a:solidFill>
                <a:srgbClr val="00D093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297544" cy="3771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28700" y="1035755"/>
            <a:ext cx="6801082" cy="2006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03"/>
              </a:lnSpc>
              <a:spcBef>
                <a:spcPct val="0"/>
              </a:spcBef>
            </a:pPr>
            <a:r>
              <a:rPr lang="en-US" sz="11359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Invest</a:t>
            </a:r>
            <a:r>
              <a:rPr lang="en-US" sz="1135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sta Pro"/>
                <a:ea typeface="Arista Pro"/>
                <a:cs typeface="Arista Pro"/>
                <a:sym typeface="Arista Pro"/>
              </a:rPr>
              <a:t>AI</a:t>
            </a:r>
            <a:r>
              <a:rPr lang="en-US" sz="11359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.uz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798422" y="9004459"/>
            <a:ext cx="1666778" cy="44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  <a:spcBef>
                <a:spcPct val="0"/>
              </a:spcBef>
            </a:pPr>
            <a:r>
              <a:rPr lang="en-US" sz="2512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Инвестиция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514119" y="8986282"/>
            <a:ext cx="1749036" cy="44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  <a:spcBef>
                <a:spcPct val="0"/>
              </a:spcBef>
            </a:pPr>
            <a:r>
              <a:rPr lang="en-US" sz="2512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Ташрифлар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39244" y="9004459"/>
            <a:ext cx="2428642" cy="44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  <a:spcBef>
                <a:spcPct val="0"/>
              </a:spcBef>
            </a:pPr>
            <a:r>
              <a:rPr lang="en-US" sz="2512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Экспорт-Импорт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748577" y="8995982"/>
            <a:ext cx="287450" cy="4410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7"/>
              </a:lnSpc>
              <a:spcBef>
                <a:spcPct val="0"/>
              </a:spcBef>
            </a:pPr>
            <a:r>
              <a:rPr lang="en-US" sz="2512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AI 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2304055" y="7731400"/>
            <a:ext cx="0" cy="1695889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>
            <a:off x="1028700" y="3042741"/>
            <a:ext cx="10006601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t="-12481" b="-1307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28700"/>
            <a:ext cx="18288000" cy="9258300"/>
            <a:chOff x="0" y="0"/>
            <a:chExt cx="4816593" cy="2438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438400"/>
            </a:xfrm>
            <a:custGeom>
              <a:avLst/>
              <a:gdLst/>
              <a:ahLst/>
              <a:cxnLst/>
              <a:rect l="l" t="t" r="r" b="b"/>
              <a:pathLst>
                <a:path w="4816592" h="2438400">
                  <a:moveTo>
                    <a:pt x="0" y="0"/>
                  </a:moveTo>
                  <a:lnTo>
                    <a:pt x="4816592" y="0"/>
                  </a:lnTo>
                  <a:lnTo>
                    <a:pt x="481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4816593" cy="2505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279067" y="1358232"/>
            <a:ext cx="1729763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1718730" y="2927092"/>
            <a:ext cx="6565607" cy="2958639"/>
            <a:chOff x="0" y="0"/>
            <a:chExt cx="1628236" cy="73372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28236" cy="733727"/>
            </a:xfrm>
            <a:custGeom>
              <a:avLst/>
              <a:gdLst/>
              <a:ahLst/>
              <a:cxnLst/>
              <a:rect l="l" t="t" r="r" b="b"/>
              <a:pathLst>
                <a:path w="1628236" h="733727">
                  <a:moveTo>
                    <a:pt x="38912" y="0"/>
                  </a:moveTo>
                  <a:lnTo>
                    <a:pt x="1589324" y="0"/>
                  </a:lnTo>
                  <a:cubicBezTo>
                    <a:pt x="1599644" y="0"/>
                    <a:pt x="1609542" y="4100"/>
                    <a:pt x="1616839" y="11397"/>
                  </a:cubicBezTo>
                  <a:cubicBezTo>
                    <a:pt x="1624137" y="18695"/>
                    <a:pt x="1628236" y="28592"/>
                    <a:pt x="1628236" y="38912"/>
                  </a:cubicBezTo>
                  <a:lnTo>
                    <a:pt x="1628236" y="694815"/>
                  </a:lnTo>
                  <a:cubicBezTo>
                    <a:pt x="1628236" y="716305"/>
                    <a:pt x="1610815" y="733727"/>
                    <a:pt x="1589324" y="733727"/>
                  </a:cubicBezTo>
                  <a:lnTo>
                    <a:pt x="38912" y="733727"/>
                  </a:lnTo>
                  <a:cubicBezTo>
                    <a:pt x="28592" y="733727"/>
                    <a:pt x="18695" y="729627"/>
                    <a:pt x="11397" y="722330"/>
                  </a:cubicBezTo>
                  <a:cubicBezTo>
                    <a:pt x="4100" y="715032"/>
                    <a:pt x="0" y="705135"/>
                    <a:pt x="0" y="694815"/>
                  </a:cubicBezTo>
                  <a:lnTo>
                    <a:pt x="0" y="38912"/>
                  </a:lnTo>
                  <a:cubicBezTo>
                    <a:pt x="0" y="28592"/>
                    <a:pt x="4100" y="18695"/>
                    <a:pt x="11397" y="11397"/>
                  </a:cubicBezTo>
                  <a:cubicBezTo>
                    <a:pt x="18695" y="4100"/>
                    <a:pt x="28592" y="0"/>
                    <a:pt x="3891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628236" cy="800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4494336" y="3051541"/>
            <a:ext cx="1143658" cy="1143658"/>
          </a:xfrm>
          <a:custGeom>
            <a:avLst/>
            <a:gdLst/>
            <a:ahLst/>
            <a:cxnLst/>
            <a:rect l="l" t="t" r="r" b="b"/>
            <a:pathLst>
              <a:path w="1143658" h="1143658">
                <a:moveTo>
                  <a:pt x="0" y="0"/>
                </a:moveTo>
                <a:lnTo>
                  <a:pt x="1143658" y="0"/>
                </a:lnTo>
                <a:lnTo>
                  <a:pt x="1143658" y="1143658"/>
                </a:lnTo>
                <a:lnTo>
                  <a:pt x="0" y="11436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9837468" y="2927092"/>
            <a:ext cx="6731802" cy="2958639"/>
            <a:chOff x="0" y="0"/>
            <a:chExt cx="1669452" cy="73372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69452" cy="733727"/>
            </a:xfrm>
            <a:custGeom>
              <a:avLst/>
              <a:gdLst/>
              <a:ahLst/>
              <a:cxnLst/>
              <a:rect l="l" t="t" r="r" b="b"/>
              <a:pathLst>
                <a:path w="1669452" h="733727">
                  <a:moveTo>
                    <a:pt x="37952" y="0"/>
                  </a:moveTo>
                  <a:lnTo>
                    <a:pt x="1631500" y="0"/>
                  </a:lnTo>
                  <a:cubicBezTo>
                    <a:pt x="1641565" y="0"/>
                    <a:pt x="1651219" y="3998"/>
                    <a:pt x="1658336" y="11116"/>
                  </a:cubicBezTo>
                  <a:cubicBezTo>
                    <a:pt x="1665453" y="18233"/>
                    <a:pt x="1669452" y="27886"/>
                    <a:pt x="1669452" y="37952"/>
                  </a:cubicBezTo>
                  <a:lnTo>
                    <a:pt x="1669452" y="695775"/>
                  </a:lnTo>
                  <a:cubicBezTo>
                    <a:pt x="1669452" y="716735"/>
                    <a:pt x="1652460" y="733727"/>
                    <a:pt x="1631500" y="733727"/>
                  </a:cubicBezTo>
                  <a:lnTo>
                    <a:pt x="37952" y="733727"/>
                  </a:lnTo>
                  <a:cubicBezTo>
                    <a:pt x="27886" y="733727"/>
                    <a:pt x="18233" y="729728"/>
                    <a:pt x="11116" y="722611"/>
                  </a:cubicBezTo>
                  <a:cubicBezTo>
                    <a:pt x="3998" y="715494"/>
                    <a:pt x="0" y="705841"/>
                    <a:pt x="0" y="695775"/>
                  </a:cubicBezTo>
                  <a:lnTo>
                    <a:pt x="0" y="37952"/>
                  </a:lnTo>
                  <a:cubicBezTo>
                    <a:pt x="0" y="16992"/>
                    <a:pt x="16992" y="0"/>
                    <a:pt x="3795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1669452" cy="8004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2712568" y="3101288"/>
            <a:ext cx="981601" cy="981601"/>
          </a:xfrm>
          <a:custGeom>
            <a:avLst/>
            <a:gdLst/>
            <a:ahLst/>
            <a:cxnLst/>
            <a:rect l="l" t="t" r="r" b="b"/>
            <a:pathLst>
              <a:path w="981601" h="981601">
                <a:moveTo>
                  <a:pt x="0" y="0"/>
                </a:moveTo>
                <a:lnTo>
                  <a:pt x="981601" y="0"/>
                </a:lnTo>
                <a:lnTo>
                  <a:pt x="981601" y="981601"/>
                </a:lnTo>
                <a:lnTo>
                  <a:pt x="0" y="981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1718730" y="6281195"/>
            <a:ext cx="6565607" cy="2977105"/>
            <a:chOff x="0" y="0"/>
            <a:chExt cx="1628236" cy="738306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28236" cy="738306"/>
            </a:xfrm>
            <a:custGeom>
              <a:avLst/>
              <a:gdLst/>
              <a:ahLst/>
              <a:cxnLst/>
              <a:rect l="l" t="t" r="r" b="b"/>
              <a:pathLst>
                <a:path w="1628236" h="738306">
                  <a:moveTo>
                    <a:pt x="38912" y="0"/>
                  </a:moveTo>
                  <a:lnTo>
                    <a:pt x="1589324" y="0"/>
                  </a:lnTo>
                  <a:cubicBezTo>
                    <a:pt x="1599644" y="0"/>
                    <a:pt x="1609542" y="4100"/>
                    <a:pt x="1616839" y="11397"/>
                  </a:cubicBezTo>
                  <a:cubicBezTo>
                    <a:pt x="1624137" y="18695"/>
                    <a:pt x="1628236" y="28592"/>
                    <a:pt x="1628236" y="38912"/>
                  </a:cubicBezTo>
                  <a:lnTo>
                    <a:pt x="1628236" y="699394"/>
                  </a:lnTo>
                  <a:cubicBezTo>
                    <a:pt x="1628236" y="720885"/>
                    <a:pt x="1610815" y="738306"/>
                    <a:pt x="1589324" y="738306"/>
                  </a:cubicBezTo>
                  <a:lnTo>
                    <a:pt x="38912" y="738306"/>
                  </a:lnTo>
                  <a:cubicBezTo>
                    <a:pt x="28592" y="738306"/>
                    <a:pt x="18695" y="734207"/>
                    <a:pt x="11397" y="726909"/>
                  </a:cubicBezTo>
                  <a:cubicBezTo>
                    <a:pt x="4100" y="719612"/>
                    <a:pt x="0" y="709714"/>
                    <a:pt x="0" y="699394"/>
                  </a:cubicBezTo>
                  <a:lnTo>
                    <a:pt x="0" y="38912"/>
                  </a:lnTo>
                  <a:cubicBezTo>
                    <a:pt x="0" y="28592"/>
                    <a:pt x="4100" y="18695"/>
                    <a:pt x="11397" y="11397"/>
                  </a:cubicBezTo>
                  <a:cubicBezTo>
                    <a:pt x="18695" y="4100"/>
                    <a:pt x="28592" y="0"/>
                    <a:pt x="3891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1628236" cy="80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9837468" y="6281195"/>
            <a:ext cx="6731802" cy="2977105"/>
            <a:chOff x="0" y="0"/>
            <a:chExt cx="1669452" cy="73830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669452" cy="738306"/>
            </a:xfrm>
            <a:custGeom>
              <a:avLst/>
              <a:gdLst/>
              <a:ahLst/>
              <a:cxnLst/>
              <a:rect l="l" t="t" r="r" b="b"/>
              <a:pathLst>
                <a:path w="1669452" h="738306">
                  <a:moveTo>
                    <a:pt x="37952" y="0"/>
                  </a:moveTo>
                  <a:lnTo>
                    <a:pt x="1631500" y="0"/>
                  </a:lnTo>
                  <a:cubicBezTo>
                    <a:pt x="1641565" y="0"/>
                    <a:pt x="1651219" y="3998"/>
                    <a:pt x="1658336" y="11116"/>
                  </a:cubicBezTo>
                  <a:cubicBezTo>
                    <a:pt x="1665453" y="18233"/>
                    <a:pt x="1669452" y="27886"/>
                    <a:pt x="1669452" y="37952"/>
                  </a:cubicBezTo>
                  <a:lnTo>
                    <a:pt x="1669452" y="700355"/>
                  </a:lnTo>
                  <a:cubicBezTo>
                    <a:pt x="1669452" y="721315"/>
                    <a:pt x="1652460" y="738306"/>
                    <a:pt x="1631500" y="738306"/>
                  </a:cubicBezTo>
                  <a:lnTo>
                    <a:pt x="37952" y="738306"/>
                  </a:lnTo>
                  <a:cubicBezTo>
                    <a:pt x="27886" y="738306"/>
                    <a:pt x="18233" y="734308"/>
                    <a:pt x="11116" y="727191"/>
                  </a:cubicBezTo>
                  <a:cubicBezTo>
                    <a:pt x="3998" y="720073"/>
                    <a:pt x="0" y="710420"/>
                    <a:pt x="0" y="700355"/>
                  </a:cubicBezTo>
                  <a:lnTo>
                    <a:pt x="0" y="37952"/>
                  </a:lnTo>
                  <a:cubicBezTo>
                    <a:pt x="0" y="16992"/>
                    <a:pt x="16992" y="0"/>
                    <a:pt x="37952" y="0"/>
                  </a:cubicBez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D9D9D9"/>
              </a:solidFill>
              <a:prstDash val="solid"/>
              <a:round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1669452" cy="80498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4394031" y="6432142"/>
            <a:ext cx="1344267" cy="1212763"/>
          </a:xfrm>
          <a:custGeom>
            <a:avLst/>
            <a:gdLst/>
            <a:ahLst/>
            <a:cxnLst/>
            <a:rect l="l" t="t" r="r" b="b"/>
            <a:pathLst>
              <a:path w="1344267" h="1212763">
                <a:moveTo>
                  <a:pt x="0" y="0"/>
                </a:moveTo>
                <a:lnTo>
                  <a:pt x="1344267" y="0"/>
                </a:lnTo>
                <a:lnTo>
                  <a:pt x="1344267" y="1212763"/>
                </a:lnTo>
                <a:lnTo>
                  <a:pt x="0" y="12127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843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661101" y="6496256"/>
            <a:ext cx="1084535" cy="1084535"/>
          </a:xfrm>
          <a:custGeom>
            <a:avLst/>
            <a:gdLst/>
            <a:ahLst/>
            <a:cxnLst/>
            <a:rect l="l" t="t" r="r" b="b"/>
            <a:pathLst>
              <a:path w="1084535" h="1084535">
                <a:moveTo>
                  <a:pt x="0" y="0"/>
                </a:moveTo>
                <a:lnTo>
                  <a:pt x="1084536" y="0"/>
                </a:lnTo>
                <a:lnTo>
                  <a:pt x="1084536" y="1084535"/>
                </a:lnTo>
                <a:lnTo>
                  <a:pt x="0" y="10845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5600723" y="181378"/>
            <a:ext cx="2254183" cy="66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1"/>
              </a:lnSpc>
              <a:spcBef>
                <a:spcPct val="0"/>
              </a:spcBef>
            </a:pP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Invest</a:t>
            </a:r>
            <a:r>
              <a:rPr lang="en-US" sz="3765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sta Pro"/>
                <a:ea typeface="Arista Pro"/>
                <a:cs typeface="Arista Pro"/>
                <a:sym typeface="Arista Pro"/>
              </a:rPr>
              <a:t>AI</a:t>
            </a: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.uz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145481" y="4400095"/>
            <a:ext cx="5685377" cy="120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935">
                <a:solidFill>
                  <a:srgbClr val="04142D"/>
                </a:solidFill>
                <a:latin typeface="Arial Nova"/>
                <a:ea typeface="Arial Nova"/>
                <a:cs typeface="Arial Nova"/>
                <a:sym typeface="Arial Nova"/>
              </a:rPr>
              <a:t>Инвестицияларни жалб қилиш жараёнларини шаффоф ва </a:t>
            </a:r>
          </a:p>
          <a:p>
            <a:pPr algn="ctr">
              <a:lnSpc>
                <a:spcPts val="3112"/>
              </a:lnSpc>
            </a:pPr>
            <a:r>
              <a:rPr lang="en-US" sz="2935">
                <a:solidFill>
                  <a:srgbClr val="04142D"/>
                </a:solidFill>
                <a:latin typeface="Arial Nova"/>
                <a:ea typeface="Arial Nova"/>
                <a:cs typeface="Arial Nova"/>
                <a:sym typeface="Arial Nova"/>
              </a:rPr>
              <a:t>тизимли йўлга қўйиш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115644" y="4366260"/>
            <a:ext cx="6148723" cy="120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935">
                <a:solidFill>
                  <a:srgbClr val="04142D"/>
                </a:solidFill>
                <a:latin typeface="Arial Nova"/>
                <a:ea typeface="Arial Nova"/>
                <a:cs typeface="Arial Nova"/>
                <a:sym typeface="Arial Nova"/>
              </a:rPr>
              <a:t>Экспорт ва импорт операцияларини рақамлаштириш ва назорат қилиш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37556" y="7744290"/>
            <a:ext cx="5685377" cy="120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935">
                <a:solidFill>
                  <a:srgbClr val="04142D"/>
                </a:solidFill>
                <a:latin typeface="Arial Nova"/>
                <a:ea typeface="Arial Nova"/>
                <a:cs typeface="Arial Nova"/>
                <a:sym typeface="Arial Nova"/>
              </a:rPr>
              <a:t>Идоралараро ҳамкорликни ягона платформада бирлаштириш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107719" y="7744290"/>
            <a:ext cx="6148723" cy="1206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12"/>
              </a:lnSpc>
            </a:pPr>
            <a:r>
              <a:rPr lang="en-US" sz="2935">
                <a:solidFill>
                  <a:srgbClr val="04142D"/>
                </a:solidFill>
                <a:latin typeface="Arial Nova"/>
                <a:ea typeface="Arial Nova"/>
                <a:cs typeface="Arial Nova"/>
                <a:sym typeface="Arial Nova"/>
              </a:rPr>
              <a:t>Қарор қабул қилиш жараёнларини тезлаштириш ва самарадорлигини ошириш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025887" y="1796382"/>
            <a:ext cx="708560" cy="629369"/>
            <a:chOff x="0" y="0"/>
            <a:chExt cx="145618" cy="12934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45618" cy="129343"/>
            </a:xfrm>
            <a:custGeom>
              <a:avLst/>
              <a:gdLst/>
              <a:ahLst/>
              <a:cxnLst/>
              <a:rect l="l" t="t" r="r" b="b"/>
              <a:pathLst>
                <a:path w="145618" h="129343">
                  <a:moveTo>
                    <a:pt x="64672" y="0"/>
                  </a:moveTo>
                  <a:lnTo>
                    <a:pt x="80946" y="0"/>
                  </a:lnTo>
                  <a:cubicBezTo>
                    <a:pt x="98098" y="0"/>
                    <a:pt x="114548" y="6814"/>
                    <a:pt x="126676" y="18942"/>
                  </a:cubicBezTo>
                  <a:cubicBezTo>
                    <a:pt x="138804" y="31070"/>
                    <a:pt x="145618" y="47520"/>
                    <a:pt x="145618" y="64672"/>
                  </a:cubicBezTo>
                  <a:lnTo>
                    <a:pt x="145618" y="64672"/>
                  </a:lnTo>
                  <a:cubicBezTo>
                    <a:pt x="145618" y="100389"/>
                    <a:pt x="116663" y="129343"/>
                    <a:pt x="80946" y="129343"/>
                  </a:cubicBezTo>
                  <a:lnTo>
                    <a:pt x="64672" y="129343"/>
                  </a:lnTo>
                  <a:cubicBezTo>
                    <a:pt x="28954" y="129343"/>
                    <a:pt x="0" y="100389"/>
                    <a:pt x="0" y="64672"/>
                  </a:cubicBezTo>
                  <a:lnTo>
                    <a:pt x="0" y="64672"/>
                  </a:lnTo>
                  <a:cubicBezTo>
                    <a:pt x="0" y="28954"/>
                    <a:pt x="28954" y="0"/>
                    <a:pt x="64672" y="0"/>
                  </a:cubicBezTo>
                  <a:close/>
                </a:path>
              </a:pathLst>
            </a:custGeom>
            <a:solidFill>
              <a:srgbClr val="01276F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145618" cy="19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003932" y="1791204"/>
            <a:ext cx="8256187" cy="565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9"/>
              </a:lnSpc>
            </a:pPr>
            <a:r>
              <a:rPr lang="en-US" sz="3249">
                <a:solidFill>
                  <a:srgbClr val="01276F"/>
                </a:solidFill>
                <a:latin typeface="Cambria"/>
                <a:ea typeface="Cambria"/>
                <a:cs typeface="Cambria"/>
                <a:sym typeface="Cambria"/>
              </a:rPr>
              <a:t>МАҚСАД ВА ВАЗИФАЛАР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4970" y="1754197"/>
            <a:ext cx="562771" cy="67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26"/>
              </a:lnSpc>
            </a:pPr>
            <a:r>
              <a:rPr lang="en-US" sz="3733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t="-12481" b="-1307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28700"/>
            <a:ext cx="18288000" cy="9258300"/>
            <a:chOff x="0" y="0"/>
            <a:chExt cx="4816593" cy="2438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438400"/>
            </a:xfrm>
            <a:custGeom>
              <a:avLst/>
              <a:gdLst/>
              <a:ahLst/>
              <a:cxnLst/>
              <a:rect l="l" t="t" r="r" b="b"/>
              <a:pathLst>
                <a:path w="4816592" h="2438400">
                  <a:moveTo>
                    <a:pt x="0" y="0"/>
                  </a:moveTo>
                  <a:lnTo>
                    <a:pt x="4816592" y="0"/>
                  </a:lnTo>
                  <a:lnTo>
                    <a:pt x="481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4816593" cy="2505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279067" y="1358232"/>
            <a:ext cx="17297633" cy="0"/>
          </a:xfrm>
          <a:prstGeom prst="line">
            <a:avLst/>
          </a:prstGeom>
          <a:ln w="19050" cap="flat">
            <a:solidFill>
              <a:srgbClr val="9D9D9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890874" y="1726562"/>
            <a:ext cx="708560" cy="629369"/>
            <a:chOff x="0" y="0"/>
            <a:chExt cx="145618" cy="1293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5618" cy="129343"/>
            </a:xfrm>
            <a:custGeom>
              <a:avLst/>
              <a:gdLst/>
              <a:ahLst/>
              <a:cxnLst/>
              <a:rect l="l" t="t" r="r" b="b"/>
              <a:pathLst>
                <a:path w="145618" h="129343">
                  <a:moveTo>
                    <a:pt x="64672" y="0"/>
                  </a:moveTo>
                  <a:lnTo>
                    <a:pt x="80946" y="0"/>
                  </a:lnTo>
                  <a:cubicBezTo>
                    <a:pt x="98098" y="0"/>
                    <a:pt x="114548" y="6814"/>
                    <a:pt x="126676" y="18942"/>
                  </a:cubicBezTo>
                  <a:cubicBezTo>
                    <a:pt x="138804" y="31070"/>
                    <a:pt x="145618" y="47520"/>
                    <a:pt x="145618" y="64672"/>
                  </a:cubicBezTo>
                  <a:lnTo>
                    <a:pt x="145618" y="64672"/>
                  </a:lnTo>
                  <a:cubicBezTo>
                    <a:pt x="145618" y="100389"/>
                    <a:pt x="116663" y="129343"/>
                    <a:pt x="80946" y="129343"/>
                  </a:cubicBezTo>
                  <a:lnTo>
                    <a:pt x="64672" y="129343"/>
                  </a:lnTo>
                  <a:cubicBezTo>
                    <a:pt x="28954" y="129343"/>
                    <a:pt x="0" y="100389"/>
                    <a:pt x="0" y="64672"/>
                  </a:cubicBezTo>
                  <a:lnTo>
                    <a:pt x="0" y="64672"/>
                  </a:lnTo>
                  <a:cubicBezTo>
                    <a:pt x="0" y="28954"/>
                    <a:pt x="28954" y="0"/>
                    <a:pt x="64672" y="0"/>
                  </a:cubicBezTo>
                  <a:close/>
                </a:path>
              </a:pathLst>
            </a:custGeom>
            <a:solidFill>
              <a:srgbClr val="01276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5618" cy="19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95032" y="2999255"/>
            <a:ext cx="1418578" cy="1363208"/>
            <a:chOff x="0" y="0"/>
            <a:chExt cx="469129" cy="45081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9130" cy="450818"/>
            </a:xfrm>
            <a:custGeom>
              <a:avLst/>
              <a:gdLst/>
              <a:ahLst/>
              <a:cxnLst/>
              <a:rect l="l" t="t" r="r" b="b"/>
              <a:pathLst>
                <a:path w="469130" h="450818">
                  <a:moveTo>
                    <a:pt x="125523" y="0"/>
                  </a:moveTo>
                  <a:lnTo>
                    <a:pt x="343607" y="0"/>
                  </a:lnTo>
                  <a:cubicBezTo>
                    <a:pt x="412931" y="0"/>
                    <a:pt x="469130" y="56199"/>
                    <a:pt x="469130" y="125523"/>
                  </a:cubicBezTo>
                  <a:lnTo>
                    <a:pt x="469130" y="325295"/>
                  </a:lnTo>
                  <a:cubicBezTo>
                    <a:pt x="469130" y="394620"/>
                    <a:pt x="412931" y="450818"/>
                    <a:pt x="343607" y="450818"/>
                  </a:cubicBezTo>
                  <a:lnTo>
                    <a:pt x="125523" y="450818"/>
                  </a:lnTo>
                  <a:cubicBezTo>
                    <a:pt x="92232" y="450818"/>
                    <a:pt x="60305" y="437594"/>
                    <a:pt x="36765" y="414054"/>
                  </a:cubicBezTo>
                  <a:cubicBezTo>
                    <a:pt x="13225" y="390513"/>
                    <a:pt x="0" y="358586"/>
                    <a:pt x="0" y="325295"/>
                  </a:cubicBezTo>
                  <a:lnTo>
                    <a:pt x="0" y="125523"/>
                  </a:lnTo>
                  <a:cubicBezTo>
                    <a:pt x="0" y="56199"/>
                    <a:pt x="56199" y="0"/>
                    <a:pt x="125523" y="0"/>
                  </a:cubicBezTo>
                  <a:close/>
                </a:path>
              </a:pathLst>
            </a:custGeom>
            <a:solidFill>
              <a:srgbClr val="1DAD0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469129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07349" y="3283887"/>
            <a:ext cx="793944" cy="793944"/>
          </a:xfrm>
          <a:custGeom>
            <a:avLst/>
            <a:gdLst/>
            <a:ahLst/>
            <a:cxnLst/>
            <a:rect l="l" t="t" r="r" b="b"/>
            <a:pathLst>
              <a:path w="793944" h="793944">
                <a:moveTo>
                  <a:pt x="0" y="0"/>
                </a:moveTo>
                <a:lnTo>
                  <a:pt x="793945" y="0"/>
                </a:lnTo>
                <a:lnTo>
                  <a:pt x="793945" y="793945"/>
                </a:lnTo>
                <a:lnTo>
                  <a:pt x="0" y="793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AutoShape 14"/>
          <p:cNvSpPr/>
          <p:nvPr/>
        </p:nvSpPr>
        <p:spPr>
          <a:xfrm flipH="1">
            <a:off x="3869693" y="4848682"/>
            <a:ext cx="33302" cy="4821904"/>
          </a:xfrm>
          <a:prstGeom prst="line">
            <a:avLst/>
          </a:prstGeom>
          <a:ln w="19050" cap="flat">
            <a:solidFill>
              <a:srgbClr val="01276F">
                <a:alpha val="46667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 flipV="1">
            <a:off x="3332766" y="3700102"/>
            <a:ext cx="1140458" cy="0"/>
          </a:xfrm>
          <a:prstGeom prst="line">
            <a:avLst/>
          </a:prstGeom>
          <a:ln w="19050" cap="flat">
            <a:solidFill>
              <a:srgbClr val="01276F">
                <a:alpha val="46667"/>
              </a:srgbClr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16" name="Group 16"/>
          <p:cNvGrpSpPr/>
          <p:nvPr/>
        </p:nvGrpSpPr>
        <p:grpSpPr>
          <a:xfrm>
            <a:off x="4993817" y="2979821"/>
            <a:ext cx="1438802" cy="1382642"/>
            <a:chOff x="0" y="0"/>
            <a:chExt cx="469129" cy="45081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69130" cy="450818"/>
            </a:xfrm>
            <a:custGeom>
              <a:avLst/>
              <a:gdLst/>
              <a:ahLst/>
              <a:cxnLst/>
              <a:rect l="l" t="t" r="r" b="b"/>
              <a:pathLst>
                <a:path w="469130" h="450818">
                  <a:moveTo>
                    <a:pt x="123759" y="0"/>
                  </a:moveTo>
                  <a:lnTo>
                    <a:pt x="345371" y="0"/>
                  </a:lnTo>
                  <a:cubicBezTo>
                    <a:pt x="413721" y="0"/>
                    <a:pt x="469130" y="55409"/>
                    <a:pt x="469130" y="123759"/>
                  </a:cubicBezTo>
                  <a:lnTo>
                    <a:pt x="469130" y="327060"/>
                  </a:lnTo>
                  <a:cubicBezTo>
                    <a:pt x="469130" y="395410"/>
                    <a:pt x="413721" y="450818"/>
                    <a:pt x="345371" y="450818"/>
                  </a:cubicBezTo>
                  <a:lnTo>
                    <a:pt x="123759" y="450818"/>
                  </a:lnTo>
                  <a:cubicBezTo>
                    <a:pt x="55409" y="450818"/>
                    <a:pt x="0" y="395410"/>
                    <a:pt x="0" y="327060"/>
                  </a:cubicBezTo>
                  <a:lnTo>
                    <a:pt x="0" y="123759"/>
                  </a:lnTo>
                  <a:cubicBezTo>
                    <a:pt x="0" y="55409"/>
                    <a:pt x="55409" y="0"/>
                    <a:pt x="123759" y="0"/>
                  </a:cubicBezTo>
                  <a:close/>
                </a:path>
              </a:pathLst>
            </a:custGeom>
            <a:solidFill>
              <a:srgbClr val="04AEDA"/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-66675"/>
              <a:ext cx="469129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 rot="-2871347">
            <a:off x="5327588" y="3168748"/>
            <a:ext cx="916104" cy="916104"/>
          </a:xfrm>
          <a:custGeom>
            <a:avLst/>
            <a:gdLst/>
            <a:ahLst/>
            <a:cxnLst/>
            <a:rect l="l" t="t" r="r" b="b"/>
            <a:pathLst>
              <a:path w="916104" h="916104">
                <a:moveTo>
                  <a:pt x="0" y="0"/>
                </a:moveTo>
                <a:lnTo>
                  <a:pt x="916104" y="0"/>
                </a:lnTo>
                <a:lnTo>
                  <a:pt x="916104" y="916105"/>
                </a:lnTo>
                <a:lnTo>
                  <a:pt x="0" y="9161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 flipH="1">
            <a:off x="7518784" y="4868116"/>
            <a:ext cx="1" cy="4821903"/>
          </a:xfrm>
          <a:prstGeom prst="line">
            <a:avLst/>
          </a:prstGeom>
          <a:ln w="19050" cap="flat">
            <a:solidFill>
              <a:srgbClr val="01276F">
                <a:alpha val="46667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V="1">
            <a:off x="6948556" y="3709627"/>
            <a:ext cx="1140458" cy="0"/>
          </a:xfrm>
          <a:prstGeom prst="line">
            <a:avLst/>
          </a:prstGeom>
          <a:ln w="19050" cap="flat">
            <a:solidFill>
              <a:srgbClr val="01276F">
                <a:alpha val="46667"/>
              </a:srgbClr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22" name="Group 22"/>
          <p:cNvGrpSpPr/>
          <p:nvPr/>
        </p:nvGrpSpPr>
        <p:grpSpPr>
          <a:xfrm>
            <a:off x="8517639" y="2999255"/>
            <a:ext cx="1438802" cy="1382642"/>
            <a:chOff x="0" y="0"/>
            <a:chExt cx="469129" cy="45081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69130" cy="450818"/>
            </a:xfrm>
            <a:custGeom>
              <a:avLst/>
              <a:gdLst/>
              <a:ahLst/>
              <a:cxnLst/>
              <a:rect l="l" t="t" r="r" b="b"/>
              <a:pathLst>
                <a:path w="469130" h="450818">
                  <a:moveTo>
                    <a:pt x="123759" y="0"/>
                  </a:moveTo>
                  <a:lnTo>
                    <a:pt x="345371" y="0"/>
                  </a:lnTo>
                  <a:cubicBezTo>
                    <a:pt x="413721" y="0"/>
                    <a:pt x="469130" y="55409"/>
                    <a:pt x="469130" y="123759"/>
                  </a:cubicBezTo>
                  <a:lnTo>
                    <a:pt x="469130" y="327060"/>
                  </a:lnTo>
                  <a:cubicBezTo>
                    <a:pt x="469130" y="395410"/>
                    <a:pt x="413721" y="450818"/>
                    <a:pt x="345371" y="450818"/>
                  </a:cubicBezTo>
                  <a:lnTo>
                    <a:pt x="123759" y="450818"/>
                  </a:lnTo>
                  <a:cubicBezTo>
                    <a:pt x="55409" y="450818"/>
                    <a:pt x="0" y="395410"/>
                    <a:pt x="0" y="327060"/>
                  </a:cubicBezTo>
                  <a:lnTo>
                    <a:pt x="0" y="123759"/>
                  </a:lnTo>
                  <a:cubicBezTo>
                    <a:pt x="0" y="55409"/>
                    <a:pt x="55409" y="0"/>
                    <a:pt x="123759" y="0"/>
                  </a:cubicBezTo>
                  <a:close/>
                </a:path>
              </a:pathLst>
            </a:custGeom>
            <a:solidFill>
              <a:srgbClr val="8635D3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66675"/>
              <a:ext cx="469129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>
            <a:off x="8764915" y="3218452"/>
            <a:ext cx="944250" cy="944250"/>
          </a:xfrm>
          <a:custGeom>
            <a:avLst/>
            <a:gdLst/>
            <a:ahLst/>
            <a:cxnLst/>
            <a:rect l="l" t="t" r="r" b="b"/>
            <a:pathLst>
              <a:path w="944250" h="944250">
                <a:moveTo>
                  <a:pt x="0" y="0"/>
                </a:moveTo>
                <a:lnTo>
                  <a:pt x="944250" y="0"/>
                </a:lnTo>
                <a:lnTo>
                  <a:pt x="944250" y="944249"/>
                </a:lnTo>
                <a:lnTo>
                  <a:pt x="0" y="94424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6" name="AutoShape 26"/>
          <p:cNvSpPr/>
          <p:nvPr/>
        </p:nvSpPr>
        <p:spPr>
          <a:xfrm>
            <a:off x="10955294" y="4868116"/>
            <a:ext cx="17503" cy="4821903"/>
          </a:xfrm>
          <a:prstGeom prst="line">
            <a:avLst/>
          </a:prstGeom>
          <a:ln w="19050" cap="flat">
            <a:solidFill>
              <a:srgbClr val="01276F">
                <a:alpha val="46667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27" name="AutoShape 27"/>
          <p:cNvSpPr/>
          <p:nvPr/>
        </p:nvSpPr>
        <p:spPr>
          <a:xfrm flipV="1">
            <a:off x="10385066" y="3709627"/>
            <a:ext cx="1140458" cy="0"/>
          </a:xfrm>
          <a:prstGeom prst="line">
            <a:avLst/>
          </a:prstGeom>
          <a:ln w="19050" cap="flat">
            <a:solidFill>
              <a:srgbClr val="01276F">
                <a:alpha val="46667"/>
              </a:srgbClr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28" name="Group 28"/>
          <p:cNvGrpSpPr/>
          <p:nvPr/>
        </p:nvGrpSpPr>
        <p:grpSpPr>
          <a:xfrm>
            <a:off x="11954149" y="2999255"/>
            <a:ext cx="1438802" cy="1382642"/>
            <a:chOff x="0" y="0"/>
            <a:chExt cx="469129" cy="45081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69130" cy="450818"/>
            </a:xfrm>
            <a:custGeom>
              <a:avLst/>
              <a:gdLst/>
              <a:ahLst/>
              <a:cxnLst/>
              <a:rect l="l" t="t" r="r" b="b"/>
              <a:pathLst>
                <a:path w="469130" h="450818">
                  <a:moveTo>
                    <a:pt x="123759" y="0"/>
                  </a:moveTo>
                  <a:lnTo>
                    <a:pt x="345371" y="0"/>
                  </a:lnTo>
                  <a:cubicBezTo>
                    <a:pt x="413721" y="0"/>
                    <a:pt x="469130" y="55409"/>
                    <a:pt x="469130" y="123759"/>
                  </a:cubicBezTo>
                  <a:lnTo>
                    <a:pt x="469130" y="327060"/>
                  </a:lnTo>
                  <a:cubicBezTo>
                    <a:pt x="469130" y="395410"/>
                    <a:pt x="413721" y="450818"/>
                    <a:pt x="345371" y="450818"/>
                  </a:cubicBezTo>
                  <a:lnTo>
                    <a:pt x="123759" y="450818"/>
                  </a:lnTo>
                  <a:cubicBezTo>
                    <a:pt x="55409" y="450818"/>
                    <a:pt x="0" y="395410"/>
                    <a:pt x="0" y="327060"/>
                  </a:cubicBezTo>
                  <a:lnTo>
                    <a:pt x="0" y="123759"/>
                  </a:lnTo>
                  <a:cubicBezTo>
                    <a:pt x="0" y="55409"/>
                    <a:pt x="55409" y="0"/>
                    <a:pt x="123759" y="0"/>
                  </a:cubicBezTo>
                  <a:close/>
                </a:path>
              </a:pathLst>
            </a:custGeom>
            <a:solidFill>
              <a:srgbClr val="F8C13A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0" y="-66675"/>
              <a:ext cx="469129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2201799" y="3259778"/>
            <a:ext cx="861598" cy="861598"/>
          </a:xfrm>
          <a:custGeom>
            <a:avLst/>
            <a:gdLst/>
            <a:ahLst/>
            <a:cxnLst/>
            <a:rect l="l" t="t" r="r" b="b"/>
            <a:pathLst>
              <a:path w="861598" h="861598">
                <a:moveTo>
                  <a:pt x="0" y="0"/>
                </a:moveTo>
                <a:lnTo>
                  <a:pt x="861598" y="0"/>
                </a:lnTo>
                <a:lnTo>
                  <a:pt x="861598" y="861598"/>
                </a:lnTo>
                <a:lnTo>
                  <a:pt x="0" y="8615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2" name="AutoShape 32"/>
          <p:cNvSpPr/>
          <p:nvPr/>
        </p:nvSpPr>
        <p:spPr>
          <a:xfrm>
            <a:off x="14391804" y="4868116"/>
            <a:ext cx="17501" cy="4821902"/>
          </a:xfrm>
          <a:prstGeom prst="line">
            <a:avLst/>
          </a:prstGeom>
          <a:ln w="19050" cap="flat">
            <a:solidFill>
              <a:srgbClr val="01276F">
                <a:alpha val="46667"/>
              </a:srgbClr>
            </a:solidFill>
            <a:prstDash val="solid"/>
            <a:headEnd type="none" w="sm" len="sm"/>
            <a:tailEnd type="none" w="sm" len="sm"/>
          </a:ln>
        </p:spPr>
      </p:sp>
      <p:sp>
        <p:nvSpPr>
          <p:cNvPr id="33" name="AutoShape 33"/>
          <p:cNvSpPr/>
          <p:nvPr/>
        </p:nvSpPr>
        <p:spPr>
          <a:xfrm flipV="1">
            <a:off x="13821576" y="3709627"/>
            <a:ext cx="1140458" cy="0"/>
          </a:xfrm>
          <a:prstGeom prst="line">
            <a:avLst/>
          </a:prstGeom>
          <a:ln w="19050" cap="flat">
            <a:solidFill>
              <a:srgbClr val="01276F">
                <a:alpha val="46667"/>
              </a:srgbClr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34" name="Group 34"/>
          <p:cNvGrpSpPr/>
          <p:nvPr/>
        </p:nvGrpSpPr>
        <p:grpSpPr>
          <a:xfrm>
            <a:off x="15390659" y="2999255"/>
            <a:ext cx="1438802" cy="1382642"/>
            <a:chOff x="0" y="0"/>
            <a:chExt cx="469129" cy="450818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69130" cy="450818"/>
            </a:xfrm>
            <a:custGeom>
              <a:avLst/>
              <a:gdLst/>
              <a:ahLst/>
              <a:cxnLst/>
              <a:rect l="l" t="t" r="r" b="b"/>
              <a:pathLst>
                <a:path w="469130" h="450818">
                  <a:moveTo>
                    <a:pt x="123759" y="0"/>
                  </a:moveTo>
                  <a:lnTo>
                    <a:pt x="345371" y="0"/>
                  </a:lnTo>
                  <a:cubicBezTo>
                    <a:pt x="413721" y="0"/>
                    <a:pt x="469130" y="55409"/>
                    <a:pt x="469130" y="123759"/>
                  </a:cubicBezTo>
                  <a:lnTo>
                    <a:pt x="469130" y="327060"/>
                  </a:lnTo>
                  <a:cubicBezTo>
                    <a:pt x="469130" y="395410"/>
                    <a:pt x="413721" y="450818"/>
                    <a:pt x="345371" y="450818"/>
                  </a:cubicBezTo>
                  <a:lnTo>
                    <a:pt x="123759" y="450818"/>
                  </a:lnTo>
                  <a:cubicBezTo>
                    <a:pt x="55409" y="450818"/>
                    <a:pt x="0" y="395410"/>
                    <a:pt x="0" y="327060"/>
                  </a:cubicBezTo>
                  <a:lnTo>
                    <a:pt x="0" y="123759"/>
                  </a:lnTo>
                  <a:cubicBezTo>
                    <a:pt x="0" y="55409"/>
                    <a:pt x="55409" y="0"/>
                    <a:pt x="123759" y="0"/>
                  </a:cubicBezTo>
                  <a:close/>
                </a:path>
              </a:pathLst>
            </a:custGeom>
            <a:solidFill>
              <a:srgbClr val="01276F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66675"/>
              <a:ext cx="469129" cy="517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>
            <a:off x="15756520" y="3259778"/>
            <a:ext cx="861598" cy="861598"/>
          </a:xfrm>
          <a:custGeom>
            <a:avLst/>
            <a:gdLst/>
            <a:ahLst/>
            <a:cxnLst/>
            <a:rect l="l" t="t" r="r" b="b"/>
            <a:pathLst>
              <a:path w="861598" h="861598">
                <a:moveTo>
                  <a:pt x="0" y="0"/>
                </a:moveTo>
                <a:lnTo>
                  <a:pt x="861598" y="0"/>
                </a:lnTo>
                <a:lnTo>
                  <a:pt x="861598" y="861598"/>
                </a:lnTo>
                <a:lnTo>
                  <a:pt x="0" y="86159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1868920" y="1721383"/>
            <a:ext cx="8256187" cy="565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9"/>
              </a:lnSpc>
            </a:pPr>
            <a:r>
              <a:rPr lang="en-US" sz="3249">
                <a:solidFill>
                  <a:srgbClr val="01276F"/>
                </a:solidFill>
                <a:latin typeface="Cambria"/>
                <a:ea typeface="Cambria"/>
                <a:cs typeface="Cambria"/>
                <a:sym typeface="Cambria"/>
              </a:rPr>
              <a:t>АСОСИЙ ФУНКЦИОНАЛ ИМКОНИЯТЛАР 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5600723" y="181378"/>
            <a:ext cx="2254183" cy="66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1"/>
              </a:lnSpc>
              <a:spcBef>
                <a:spcPct val="0"/>
              </a:spcBef>
            </a:pP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Invest</a:t>
            </a:r>
            <a:r>
              <a:rPr lang="en-US" sz="3765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sta Pro"/>
                <a:ea typeface="Arista Pro"/>
                <a:cs typeface="Arista Pro"/>
                <a:sym typeface="Arista Pro"/>
              </a:rPr>
              <a:t>AI</a:t>
            </a: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.uz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29958" y="1684377"/>
            <a:ext cx="562771" cy="67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26"/>
              </a:lnSpc>
            </a:pPr>
            <a:r>
              <a:rPr lang="en-US" sz="3733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02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88136" y="4867732"/>
            <a:ext cx="2925193" cy="786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940">
                <a:solidFill>
                  <a:srgbClr val="1DAD04"/>
                </a:solidFill>
                <a:latin typeface="Inter"/>
                <a:ea typeface="Inter"/>
                <a:cs typeface="Inter"/>
                <a:sym typeface="Inter"/>
              </a:rPr>
              <a:t>КИРИШ ВА ФОЙДАЛАНУВЧИЛАР БОШҚАРУВИ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44428" y="6235609"/>
            <a:ext cx="2925193" cy="2742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One-id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орқали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хавфсиз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кириш</a:t>
            </a:r>
            <a:endParaRPr lang="en-US" sz="2040" dirty="0">
              <a:solidFill>
                <a:srgbClr val="01276F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Роллар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ва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ваколатлар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тақсимоти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Маълумотлар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хавфсизлигини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таъминла</a:t>
            </a:r>
            <a:r>
              <a:rPr lang="uz-Cyrl-UZ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ди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293520" y="4867732"/>
            <a:ext cx="2925193" cy="104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940">
                <a:solidFill>
                  <a:srgbClr val="04AEDA"/>
                </a:solidFill>
                <a:latin typeface="Inter"/>
                <a:ea typeface="Inter"/>
                <a:cs typeface="Inter"/>
                <a:sym typeface="Inter"/>
              </a:rPr>
              <a:t>ХОРИЖИЙ ИНВЕСТИЦИЯ ВА ТАШРИФЛАРНИ РАҚАМЛАШТИРИШ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234597" y="6235609"/>
            <a:ext cx="2925193" cy="3434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Хорижий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сафарлар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рақамлаштирилади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Йўл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хариталари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мониторинг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қилиб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борилади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Автоматик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огоҳлантиришлар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ва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рейтинг</a:t>
            </a:r>
            <a:r>
              <a:rPr lang="uz-Cyrl-UZ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лар текширилиб борилади 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792322" y="4887166"/>
            <a:ext cx="2925193" cy="104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940">
                <a:solidFill>
                  <a:srgbClr val="8635D3"/>
                </a:solidFill>
                <a:latin typeface="Inter"/>
                <a:ea typeface="Inter"/>
                <a:cs typeface="Inter"/>
                <a:sym typeface="Inter"/>
              </a:rPr>
              <a:t>ЭКСПОРТ ЖАРАЁНЛАРИНИ ИНТЕГРАЦИЯ ҚИЛИШ </a:t>
            </a:r>
          </a:p>
          <a:p>
            <a:pPr algn="ctr">
              <a:lnSpc>
                <a:spcPts val="2057"/>
              </a:lnSpc>
            </a:pPr>
            <a:r>
              <a:rPr lang="en-US" sz="1940">
                <a:solidFill>
                  <a:srgbClr val="8635D3"/>
                </a:solidFill>
                <a:latin typeface="Inter"/>
                <a:ea typeface="Inter"/>
                <a:cs typeface="Inter"/>
                <a:sym typeface="Inter"/>
              </a:rPr>
              <a:t>ВА AI ТАҲЛИЛ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50387" y="6255043"/>
            <a:ext cx="2867128" cy="3088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Тегишли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ташкилотлар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билан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интеграция</a:t>
            </a:r>
            <a:endParaRPr lang="en-US" sz="2040" dirty="0">
              <a:solidFill>
                <a:srgbClr val="01276F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Реал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вақт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мониторинги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AI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асосида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автоматик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ҳисоботлар</a:t>
            </a:r>
            <a:r>
              <a:rPr lang="uz-Cyrl-UZ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яратилади</a:t>
            </a:r>
            <a:endParaRPr lang="en-US" sz="2040" dirty="0">
              <a:solidFill>
                <a:srgbClr val="01276F"/>
              </a:solidFill>
              <a:latin typeface="Arial Nova"/>
              <a:ea typeface="Arial Nova"/>
              <a:cs typeface="Arial Nova"/>
              <a:sym typeface="Arial Nova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1228832" y="4887166"/>
            <a:ext cx="2925193" cy="10440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940">
                <a:solidFill>
                  <a:srgbClr val="F8C13A"/>
                </a:solidFill>
                <a:latin typeface="Inter"/>
                <a:ea typeface="Inter"/>
                <a:cs typeface="Inter"/>
                <a:sym typeface="Inter"/>
              </a:rPr>
              <a:t>ИНВЕСТИЦИЯ ЛОЙИҲАЛАРИНИ МОНИТОРИНГ </a:t>
            </a:r>
          </a:p>
          <a:p>
            <a:pPr algn="ctr">
              <a:lnSpc>
                <a:spcPts val="2057"/>
              </a:lnSpc>
            </a:pPr>
            <a:r>
              <a:rPr lang="en-US" sz="1940">
                <a:solidFill>
                  <a:srgbClr val="F8C13A"/>
                </a:solidFill>
                <a:latin typeface="Inter"/>
                <a:ea typeface="Inter"/>
                <a:cs typeface="Inter"/>
                <a:sym typeface="Inter"/>
              </a:rPr>
              <a:t>ҚИЛИШ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17245" y="6235609"/>
            <a:ext cx="2867128" cy="2742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Лойиҳалар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доимий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назоратда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бўлади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AI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орқали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самарадорлик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таҳлили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Ортда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қолган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лойиҳалар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бўйича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en-US" sz="2040" dirty="0" err="1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сигнал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  <a:r>
              <a:rPr lang="uz-Cyrl-UZ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берилади</a:t>
            </a:r>
            <a:r>
              <a:rPr lang="en-US" sz="2040" dirty="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4629930" y="5124874"/>
            <a:ext cx="2925193" cy="529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</a:pPr>
            <a:r>
              <a:rPr lang="en-US" sz="1940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УМУМИЙ </a:t>
            </a:r>
          </a:p>
          <a:p>
            <a:pPr algn="ctr">
              <a:lnSpc>
                <a:spcPts val="2057"/>
              </a:lnSpc>
            </a:pPr>
            <a:r>
              <a:rPr lang="en-US" sz="1940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БОШҚАРУВ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4753755" y="6235609"/>
            <a:ext cx="2867128" cy="1990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Ойлик аавтоматик ҳисоботлар </a:t>
            </a:r>
          </a:p>
          <a:p>
            <a:pPr marL="440635" lvl="1" indent="-220318" algn="l">
              <a:lnSpc>
                <a:spcPts val="2673"/>
              </a:lnSpc>
              <a:buFont typeface="Arial"/>
              <a:buChar char="•"/>
            </a:pPr>
            <a:r>
              <a:rPr lang="en-US" sz="2040">
                <a:solidFill>
                  <a:srgbClr val="01276F"/>
                </a:solidFill>
                <a:latin typeface="Arial Nova"/>
                <a:ea typeface="Arial Nova"/>
                <a:cs typeface="Arial Nova"/>
                <a:sym typeface="Arial Nova"/>
              </a:rPr>
              <a:t>Камчиликларни аниқлайди ва       чора-тадбирлар ишлаб чиқади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t="-12481" b="-1307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28700"/>
            <a:ext cx="18288000" cy="9258300"/>
            <a:chOff x="0" y="0"/>
            <a:chExt cx="4816593" cy="2438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438400"/>
            </a:xfrm>
            <a:custGeom>
              <a:avLst/>
              <a:gdLst/>
              <a:ahLst/>
              <a:cxnLst/>
              <a:rect l="l" t="t" r="r" b="b"/>
              <a:pathLst>
                <a:path w="4816592" h="2438400">
                  <a:moveTo>
                    <a:pt x="0" y="0"/>
                  </a:moveTo>
                  <a:lnTo>
                    <a:pt x="4816592" y="0"/>
                  </a:lnTo>
                  <a:lnTo>
                    <a:pt x="481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4816593" cy="2505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279067" y="1358232"/>
            <a:ext cx="17297633" cy="0"/>
          </a:xfrm>
          <a:prstGeom prst="line">
            <a:avLst/>
          </a:prstGeom>
          <a:ln w="19050" cap="flat">
            <a:solidFill>
              <a:srgbClr val="9D9D9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890874" y="1726562"/>
            <a:ext cx="708560" cy="629369"/>
            <a:chOff x="0" y="0"/>
            <a:chExt cx="145618" cy="1293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5618" cy="129343"/>
            </a:xfrm>
            <a:custGeom>
              <a:avLst/>
              <a:gdLst/>
              <a:ahLst/>
              <a:cxnLst/>
              <a:rect l="l" t="t" r="r" b="b"/>
              <a:pathLst>
                <a:path w="145618" h="129343">
                  <a:moveTo>
                    <a:pt x="64672" y="0"/>
                  </a:moveTo>
                  <a:lnTo>
                    <a:pt x="80946" y="0"/>
                  </a:lnTo>
                  <a:cubicBezTo>
                    <a:pt x="98098" y="0"/>
                    <a:pt x="114548" y="6814"/>
                    <a:pt x="126676" y="18942"/>
                  </a:cubicBezTo>
                  <a:cubicBezTo>
                    <a:pt x="138804" y="31070"/>
                    <a:pt x="145618" y="47520"/>
                    <a:pt x="145618" y="64672"/>
                  </a:cubicBezTo>
                  <a:lnTo>
                    <a:pt x="145618" y="64672"/>
                  </a:lnTo>
                  <a:cubicBezTo>
                    <a:pt x="145618" y="100389"/>
                    <a:pt x="116663" y="129343"/>
                    <a:pt x="80946" y="129343"/>
                  </a:cubicBezTo>
                  <a:lnTo>
                    <a:pt x="64672" y="129343"/>
                  </a:lnTo>
                  <a:cubicBezTo>
                    <a:pt x="28954" y="129343"/>
                    <a:pt x="0" y="100389"/>
                    <a:pt x="0" y="64672"/>
                  </a:cubicBezTo>
                  <a:lnTo>
                    <a:pt x="0" y="64672"/>
                  </a:lnTo>
                  <a:cubicBezTo>
                    <a:pt x="0" y="28954"/>
                    <a:pt x="28954" y="0"/>
                    <a:pt x="64672" y="0"/>
                  </a:cubicBezTo>
                  <a:close/>
                </a:path>
              </a:pathLst>
            </a:custGeom>
            <a:solidFill>
              <a:srgbClr val="01276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5618" cy="19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64777" y="3761210"/>
            <a:ext cx="4558445" cy="4558445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38100" cap="sq">
              <a:solidFill>
                <a:srgbClr val="01276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032155" y="2845107"/>
            <a:ext cx="1929166" cy="1929166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8635D3">
                  <a:alpha val="45882"/>
                </a:srgbClr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572273" y="5076325"/>
            <a:ext cx="1929166" cy="1929166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F8C13A">
                  <a:alpha val="45882"/>
                </a:srgbClr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056026" y="7306593"/>
            <a:ext cx="1929166" cy="192916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A5A5A5">
                  <a:alpha val="45882"/>
                </a:srgbClr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326011" y="2845107"/>
            <a:ext cx="1929166" cy="192916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9D400">
                  <a:alpha val="45882"/>
                </a:srgbClr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783086" y="5076799"/>
            <a:ext cx="1929166" cy="192916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45BCFF">
                  <a:alpha val="45882"/>
                </a:srgbClr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326011" y="7310765"/>
            <a:ext cx="1929166" cy="192916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ln w="19050" cap="sq">
              <a:solidFill>
                <a:srgbClr val="02207C">
                  <a:alpha val="45882"/>
                </a:srgbClr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33" name="AutoShape 33"/>
          <p:cNvSpPr/>
          <p:nvPr/>
        </p:nvSpPr>
        <p:spPr>
          <a:xfrm flipH="1" flipV="1">
            <a:off x="6166284" y="4214702"/>
            <a:ext cx="1006461" cy="680866"/>
          </a:xfrm>
          <a:prstGeom prst="line">
            <a:avLst/>
          </a:prstGeom>
          <a:ln w="19050" cap="flat">
            <a:solidFill>
              <a:srgbClr val="01276F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34" name="AutoShape 34"/>
          <p:cNvSpPr/>
          <p:nvPr/>
        </p:nvSpPr>
        <p:spPr>
          <a:xfrm flipV="1">
            <a:off x="11115443" y="4191188"/>
            <a:ext cx="995092" cy="704704"/>
          </a:xfrm>
          <a:prstGeom prst="line">
            <a:avLst/>
          </a:prstGeom>
          <a:ln w="19050" cap="flat">
            <a:solidFill>
              <a:srgbClr val="01276F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35" name="AutoShape 35"/>
          <p:cNvSpPr/>
          <p:nvPr/>
        </p:nvSpPr>
        <p:spPr>
          <a:xfrm flipH="1">
            <a:off x="5712252" y="6040433"/>
            <a:ext cx="1152525" cy="950"/>
          </a:xfrm>
          <a:prstGeom prst="line">
            <a:avLst/>
          </a:prstGeom>
          <a:ln w="19050" cap="flat">
            <a:solidFill>
              <a:srgbClr val="01276F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36" name="AutoShape 36"/>
          <p:cNvSpPr/>
          <p:nvPr/>
        </p:nvSpPr>
        <p:spPr>
          <a:xfrm>
            <a:off x="11428728" y="6033609"/>
            <a:ext cx="1143546" cy="7298"/>
          </a:xfrm>
          <a:prstGeom prst="line">
            <a:avLst/>
          </a:prstGeom>
          <a:ln w="19050" cap="flat">
            <a:solidFill>
              <a:srgbClr val="01276F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37" name="AutoShape 37"/>
          <p:cNvSpPr/>
          <p:nvPr/>
        </p:nvSpPr>
        <p:spPr>
          <a:xfrm flipH="1">
            <a:off x="6175333" y="7272301"/>
            <a:ext cx="1050694" cy="618170"/>
          </a:xfrm>
          <a:prstGeom prst="line">
            <a:avLst/>
          </a:prstGeom>
          <a:ln w="19050" cap="flat">
            <a:solidFill>
              <a:srgbClr val="01276F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38" name="AutoShape 38"/>
          <p:cNvSpPr/>
          <p:nvPr/>
        </p:nvSpPr>
        <p:spPr>
          <a:xfrm>
            <a:off x="11078998" y="7245439"/>
            <a:ext cx="1026053" cy="721305"/>
          </a:xfrm>
          <a:prstGeom prst="line">
            <a:avLst/>
          </a:prstGeom>
          <a:ln w="19050" cap="flat">
            <a:solidFill>
              <a:srgbClr val="01276F"/>
            </a:solidFill>
            <a:prstDash val="sysDash"/>
            <a:headEnd type="oval" w="lg" len="lg"/>
            <a:tailEnd type="oval" w="lg" len="lg"/>
          </a:ln>
        </p:spPr>
      </p:sp>
      <p:sp>
        <p:nvSpPr>
          <p:cNvPr id="39" name="Freeform 39"/>
          <p:cNvSpPr/>
          <p:nvPr/>
        </p:nvSpPr>
        <p:spPr>
          <a:xfrm>
            <a:off x="4679790" y="3377765"/>
            <a:ext cx="1221534" cy="792281"/>
          </a:xfrm>
          <a:custGeom>
            <a:avLst/>
            <a:gdLst/>
            <a:ahLst/>
            <a:cxnLst/>
            <a:rect l="l" t="t" r="r" b="b"/>
            <a:pathLst>
              <a:path w="1221534" h="792281">
                <a:moveTo>
                  <a:pt x="0" y="0"/>
                </a:moveTo>
                <a:lnTo>
                  <a:pt x="1221534" y="0"/>
                </a:lnTo>
                <a:lnTo>
                  <a:pt x="1221534" y="792281"/>
                </a:lnTo>
                <a:lnTo>
                  <a:pt x="0" y="792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4179"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4116461" y="5455471"/>
            <a:ext cx="1174097" cy="1174097"/>
          </a:xfrm>
          <a:custGeom>
            <a:avLst/>
            <a:gdLst/>
            <a:ahLst/>
            <a:cxnLst/>
            <a:rect l="l" t="t" r="r" b="b"/>
            <a:pathLst>
              <a:path w="1174097" h="1174097">
                <a:moveTo>
                  <a:pt x="0" y="0"/>
                </a:moveTo>
                <a:lnTo>
                  <a:pt x="1174096" y="0"/>
                </a:lnTo>
                <a:lnTo>
                  <a:pt x="1174096" y="1174097"/>
                </a:lnTo>
                <a:lnTo>
                  <a:pt x="0" y="11740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2301003" y="3223297"/>
            <a:ext cx="1439213" cy="1101216"/>
          </a:xfrm>
          <a:custGeom>
            <a:avLst/>
            <a:gdLst/>
            <a:ahLst/>
            <a:cxnLst/>
            <a:rect l="l" t="t" r="r" b="b"/>
            <a:pathLst>
              <a:path w="1439213" h="1101216">
                <a:moveTo>
                  <a:pt x="0" y="0"/>
                </a:moveTo>
                <a:lnTo>
                  <a:pt x="1439213" y="0"/>
                </a:lnTo>
                <a:lnTo>
                  <a:pt x="1439213" y="1101217"/>
                </a:lnTo>
                <a:lnTo>
                  <a:pt x="0" y="11012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2785" b="-17907"/>
            </a:stretch>
          </a:blipFill>
        </p:spPr>
      </p:sp>
      <p:sp>
        <p:nvSpPr>
          <p:cNvPr id="42" name="Freeform 42"/>
          <p:cNvSpPr/>
          <p:nvPr/>
        </p:nvSpPr>
        <p:spPr>
          <a:xfrm>
            <a:off x="12963510" y="5455471"/>
            <a:ext cx="1146693" cy="1146693"/>
          </a:xfrm>
          <a:custGeom>
            <a:avLst/>
            <a:gdLst/>
            <a:ahLst/>
            <a:cxnLst/>
            <a:rect l="l" t="t" r="r" b="b"/>
            <a:pathLst>
              <a:path w="1146693" h="1146693">
                <a:moveTo>
                  <a:pt x="0" y="0"/>
                </a:moveTo>
                <a:lnTo>
                  <a:pt x="1146693" y="0"/>
                </a:lnTo>
                <a:lnTo>
                  <a:pt x="1146693" y="1146693"/>
                </a:lnTo>
                <a:lnTo>
                  <a:pt x="0" y="11466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>
            <a:off x="4747669" y="7691765"/>
            <a:ext cx="1062705" cy="1062705"/>
          </a:xfrm>
          <a:custGeom>
            <a:avLst/>
            <a:gdLst/>
            <a:ahLst/>
            <a:cxnLst/>
            <a:rect l="l" t="t" r="r" b="b"/>
            <a:pathLst>
              <a:path w="1062705" h="1062705">
                <a:moveTo>
                  <a:pt x="0" y="0"/>
                </a:moveTo>
                <a:lnTo>
                  <a:pt x="1062706" y="0"/>
                </a:lnTo>
                <a:lnTo>
                  <a:pt x="1062706" y="1062706"/>
                </a:lnTo>
                <a:lnTo>
                  <a:pt x="0" y="10627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2410477" y="7612986"/>
            <a:ext cx="1220264" cy="1220264"/>
          </a:xfrm>
          <a:custGeom>
            <a:avLst/>
            <a:gdLst/>
            <a:ahLst/>
            <a:cxnLst/>
            <a:rect l="l" t="t" r="r" b="b"/>
            <a:pathLst>
              <a:path w="1220264" h="1220264">
                <a:moveTo>
                  <a:pt x="0" y="0"/>
                </a:moveTo>
                <a:lnTo>
                  <a:pt x="1220264" y="0"/>
                </a:lnTo>
                <a:lnTo>
                  <a:pt x="1220264" y="1220264"/>
                </a:lnTo>
                <a:lnTo>
                  <a:pt x="0" y="12202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2132102" y="1721383"/>
            <a:ext cx="7993005" cy="565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9"/>
              </a:lnSpc>
            </a:pPr>
            <a:r>
              <a:rPr lang="en-US" sz="3249">
                <a:solidFill>
                  <a:srgbClr val="01276F"/>
                </a:solidFill>
                <a:latin typeface="Cambria"/>
                <a:ea typeface="Cambria"/>
                <a:cs typeface="Cambria"/>
                <a:sym typeface="Cambria"/>
              </a:rPr>
              <a:t>ЭКСПОРТ ЖАРАЁНЛАРИ ИНТЕГРАЦИЯСИ 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600723" y="181378"/>
            <a:ext cx="2254183" cy="66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1"/>
              </a:lnSpc>
              <a:spcBef>
                <a:spcPct val="0"/>
              </a:spcBef>
            </a:pP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Invest</a:t>
            </a:r>
            <a:r>
              <a:rPr lang="en-US" sz="3765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sta Pro"/>
                <a:ea typeface="Arista Pro"/>
                <a:cs typeface="Arista Pro"/>
                <a:sym typeface="Arista Pro"/>
              </a:rPr>
              <a:t>AI</a:t>
            </a: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.uz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29958" y="1684377"/>
            <a:ext cx="562771" cy="67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26"/>
              </a:lnSpc>
            </a:pPr>
            <a:r>
              <a:rPr lang="en-US" sz="3733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03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382603" y="5148257"/>
            <a:ext cx="3522794" cy="17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3249" b="1">
                <a:solidFill>
                  <a:srgbClr val="01276F"/>
                </a:solidFill>
                <a:latin typeface="Cambria Bold"/>
                <a:ea typeface="Cambria Bold"/>
                <a:cs typeface="Cambria Bold"/>
                <a:sym typeface="Cambria Bold"/>
              </a:rPr>
              <a:t>ИНТЕГРАЦИЯСИ ҚИЛИНАДИГАН ТАШКИЛОТЛАР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38314" y="3345516"/>
            <a:ext cx="3273372" cy="956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9"/>
              </a:lnSpc>
              <a:spcBef>
                <a:spcPct val="0"/>
              </a:spcBef>
            </a:pPr>
            <a:r>
              <a:rPr lang="en-US" sz="2386" u="none" strike="noStrike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ИНВЕСТИТИЦИЯЛАР, САНОАТ ВА САВДО БОШҚАРМАСИ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81778" y="5726614"/>
            <a:ext cx="2925193" cy="64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9"/>
              </a:lnSpc>
              <a:spcBef>
                <a:spcPct val="0"/>
              </a:spcBef>
            </a:pPr>
            <a:r>
              <a:rPr lang="en-US" sz="2386" u="none" strike="noStrike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СОЛИҚ </a:t>
            </a:r>
          </a:p>
          <a:p>
            <a:pPr marL="0" lvl="0" indent="0" algn="ctr">
              <a:lnSpc>
                <a:spcPts val="2529"/>
              </a:lnSpc>
              <a:spcBef>
                <a:spcPct val="0"/>
              </a:spcBef>
            </a:pPr>
            <a:r>
              <a:rPr lang="en-US" sz="2386" u="none" strike="noStrike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БОШҚАРМАСИ 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4285171" y="3309731"/>
            <a:ext cx="2925193" cy="956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9"/>
              </a:lnSpc>
              <a:spcBef>
                <a:spcPct val="0"/>
              </a:spcBef>
            </a:pPr>
            <a:r>
              <a:rPr lang="en-US" sz="2386" u="none" strike="noStrike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САВДОНИ РИВОЖЛАНТИРИШ АГЕНТЛИГИ 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4258845" y="5733767"/>
            <a:ext cx="3596061" cy="646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9"/>
              </a:lnSpc>
            </a:pPr>
            <a:r>
              <a:rPr lang="en-US" sz="2386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БОЖХОНА БОШҚАРМАСИ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211343" y="7916123"/>
            <a:ext cx="2925193" cy="64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9"/>
              </a:lnSpc>
              <a:spcBef>
                <a:spcPct val="0"/>
              </a:spcBef>
            </a:pPr>
            <a:r>
              <a:rPr lang="en-US" sz="2386" u="none" strike="noStrike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МАРКАЗИЙ </a:t>
            </a:r>
          </a:p>
          <a:p>
            <a:pPr marL="0" lvl="0" indent="0" algn="ctr">
              <a:lnSpc>
                <a:spcPts val="2529"/>
              </a:lnSpc>
              <a:spcBef>
                <a:spcPct val="0"/>
              </a:spcBef>
            </a:pPr>
            <a:r>
              <a:rPr lang="en-US" sz="2386" u="none" strike="noStrike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БАНК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4138127" y="7968353"/>
            <a:ext cx="2925193" cy="642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529"/>
              </a:lnSpc>
              <a:spcBef>
                <a:spcPct val="0"/>
              </a:spcBef>
            </a:pPr>
            <a:r>
              <a:rPr lang="en-US" sz="2386" u="none" strike="noStrike">
                <a:solidFill>
                  <a:srgbClr val="01276F"/>
                </a:solidFill>
                <a:latin typeface="Inter"/>
                <a:ea typeface="Inter"/>
                <a:cs typeface="Inter"/>
                <a:sym typeface="Inter"/>
              </a:rPr>
              <a:t>ТЕГИШЛИ ТАШКИЛОТЛАР</a:t>
            </a:r>
          </a:p>
        </p:txBody>
      </p:sp>
      <p:sp>
        <p:nvSpPr>
          <p:cNvPr id="60" name="Полилиния: фигура 59">
            <a:extLst>
              <a:ext uri="{FF2B5EF4-FFF2-40B4-BE49-F238E27FC236}">
                <a16:creationId xmlns:a16="http://schemas.microsoft.com/office/drawing/2014/main" id="{3D1AE99E-5219-4715-ABA9-38CA52136538}"/>
              </a:ext>
            </a:extLst>
          </p:cNvPr>
          <p:cNvSpPr/>
          <p:nvPr/>
        </p:nvSpPr>
        <p:spPr>
          <a:xfrm>
            <a:off x="6189785" y="2828001"/>
            <a:ext cx="5922498" cy="590448"/>
          </a:xfrm>
          <a:custGeom>
            <a:avLst/>
            <a:gdLst>
              <a:gd name="csX0" fmla="*/ 0 w 5922498"/>
              <a:gd name="csY0" fmla="*/ 984738 h 984738"/>
              <a:gd name="csX1" fmla="*/ 2841673 w 5922498"/>
              <a:gd name="csY1" fmla="*/ 0 h 984738"/>
              <a:gd name="csX2" fmla="*/ 5922498 w 5922498"/>
              <a:gd name="csY2" fmla="*/ 984738 h 984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22498" h="984738">
                <a:moveTo>
                  <a:pt x="0" y="984738"/>
                </a:moveTo>
                <a:cubicBezTo>
                  <a:pt x="927295" y="492369"/>
                  <a:pt x="1854590" y="0"/>
                  <a:pt x="2841673" y="0"/>
                </a:cubicBezTo>
                <a:cubicBezTo>
                  <a:pt x="3828756" y="0"/>
                  <a:pt x="5683347" y="846406"/>
                  <a:pt x="5922498" y="984738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1" name="Полилиния: фигура 60">
            <a:extLst>
              <a:ext uri="{FF2B5EF4-FFF2-40B4-BE49-F238E27FC236}">
                <a16:creationId xmlns:a16="http://schemas.microsoft.com/office/drawing/2014/main" id="{3D860413-0CFE-4FA7-0E35-A972720DADED}"/>
              </a:ext>
            </a:extLst>
          </p:cNvPr>
          <p:cNvSpPr/>
          <p:nvPr/>
        </p:nvSpPr>
        <p:spPr>
          <a:xfrm flipV="1">
            <a:off x="6230769" y="8651387"/>
            <a:ext cx="5922498" cy="519888"/>
          </a:xfrm>
          <a:custGeom>
            <a:avLst/>
            <a:gdLst>
              <a:gd name="csX0" fmla="*/ 0 w 5922498"/>
              <a:gd name="csY0" fmla="*/ 984738 h 984738"/>
              <a:gd name="csX1" fmla="*/ 2841673 w 5922498"/>
              <a:gd name="csY1" fmla="*/ 0 h 984738"/>
              <a:gd name="csX2" fmla="*/ 5922498 w 5922498"/>
              <a:gd name="csY2" fmla="*/ 984738 h 9847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922498" h="984738">
                <a:moveTo>
                  <a:pt x="0" y="984738"/>
                </a:moveTo>
                <a:cubicBezTo>
                  <a:pt x="927295" y="492369"/>
                  <a:pt x="1854590" y="0"/>
                  <a:pt x="2841673" y="0"/>
                </a:cubicBezTo>
                <a:cubicBezTo>
                  <a:pt x="3828756" y="0"/>
                  <a:pt x="5683347" y="846406"/>
                  <a:pt x="5922498" y="984738"/>
                </a:cubicBezTo>
              </a:path>
            </a:pathLst>
          </a:custGeom>
          <a:noFill/>
          <a:ln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t="-12481" b="-1307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1028700"/>
            <a:ext cx="18288000" cy="9258300"/>
            <a:chOff x="0" y="0"/>
            <a:chExt cx="4816593" cy="2438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438400"/>
            </a:xfrm>
            <a:custGeom>
              <a:avLst/>
              <a:gdLst/>
              <a:ahLst/>
              <a:cxnLst/>
              <a:rect l="l" t="t" r="r" b="b"/>
              <a:pathLst>
                <a:path w="4816592" h="2438400">
                  <a:moveTo>
                    <a:pt x="0" y="0"/>
                  </a:moveTo>
                  <a:lnTo>
                    <a:pt x="4816592" y="0"/>
                  </a:lnTo>
                  <a:lnTo>
                    <a:pt x="481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4816593" cy="2505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 flipV="1">
            <a:off x="279067" y="1358232"/>
            <a:ext cx="17297633" cy="0"/>
          </a:xfrm>
          <a:prstGeom prst="line">
            <a:avLst/>
          </a:prstGeom>
          <a:ln w="19050" cap="flat">
            <a:solidFill>
              <a:srgbClr val="9D9D9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890874" y="1726562"/>
            <a:ext cx="708560" cy="629369"/>
            <a:chOff x="0" y="0"/>
            <a:chExt cx="145618" cy="12934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5618" cy="129343"/>
            </a:xfrm>
            <a:custGeom>
              <a:avLst/>
              <a:gdLst/>
              <a:ahLst/>
              <a:cxnLst/>
              <a:rect l="l" t="t" r="r" b="b"/>
              <a:pathLst>
                <a:path w="145618" h="129343">
                  <a:moveTo>
                    <a:pt x="64672" y="0"/>
                  </a:moveTo>
                  <a:lnTo>
                    <a:pt x="80946" y="0"/>
                  </a:lnTo>
                  <a:cubicBezTo>
                    <a:pt x="98098" y="0"/>
                    <a:pt x="114548" y="6814"/>
                    <a:pt x="126676" y="18942"/>
                  </a:cubicBezTo>
                  <a:cubicBezTo>
                    <a:pt x="138804" y="31070"/>
                    <a:pt x="145618" y="47520"/>
                    <a:pt x="145618" y="64672"/>
                  </a:cubicBezTo>
                  <a:lnTo>
                    <a:pt x="145618" y="64672"/>
                  </a:lnTo>
                  <a:cubicBezTo>
                    <a:pt x="145618" y="100389"/>
                    <a:pt x="116663" y="129343"/>
                    <a:pt x="80946" y="129343"/>
                  </a:cubicBezTo>
                  <a:lnTo>
                    <a:pt x="64672" y="129343"/>
                  </a:lnTo>
                  <a:cubicBezTo>
                    <a:pt x="28954" y="129343"/>
                    <a:pt x="0" y="100389"/>
                    <a:pt x="0" y="64672"/>
                  </a:cubicBezTo>
                  <a:lnTo>
                    <a:pt x="0" y="64672"/>
                  </a:lnTo>
                  <a:cubicBezTo>
                    <a:pt x="0" y="28954"/>
                    <a:pt x="28954" y="0"/>
                    <a:pt x="64672" y="0"/>
                  </a:cubicBezTo>
                  <a:close/>
                </a:path>
              </a:pathLst>
            </a:custGeom>
            <a:solidFill>
              <a:srgbClr val="01276F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5618" cy="19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6225033" y="3691811"/>
            <a:ext cx="5432555" cy="3347330"/>
          </a:xfrm>
          <a:custGeom>
            <a:avLst/>
            <a:gdLst/>
            <a:ahLst/>
            <a:cxnLst/>
            <a:rect l="l" t="t" r="r" b="b"/>
            <a:pathLst>
              <a:path w="5432555" h="3671578">
                <a:moveTo>
                  <a:pt x="0" y="0"/>
                </a:moveTo>
                <a:lnTo>
                  <a:pt x="5432555" y="0"/>
                </a:lnTo>
                <a:lnTo>
                  <a:pt x="5432555" y="3671578"/>
                </a:lnTo>
                <a:lnTo>
                  <a:pt x="0" y="3671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4909790" y="2945808"/>
            <a:ext cx="1479511" cy="147951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014388" y="3050406"/>
            <a:ext cx="1270314" cy="127031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DAD0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5299141" y="3335159"/>
            <a:ext cx="700808" cy="700808"/>
          </a:xfrm>
          <a:custGeom>
            <a:avLst/>
            <a:gdLst/>
            <a:ahLst/>
            <a:cxnLst/>
            <a:rect l="l" t="t" r="r" b="b"/>
            <a:pathLst>
              <a:path w="700808" h="700808">
                <a:moveTo>
                  <a:pt x="0" y="0"/>
                </a:moveTo>
                <a:lnTo>
                  <a:pt x="700808" y="0"/>
                </a:lnTo>
                <a:lnTo>
                  <a:pt x="700808" y="700808"/>
                </a:lnTo>
                <a:lnTo>
                  <a:pt x="0" y="7008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4686100" y="5827788"/>
            <a:ext cx="1479511" cy="147951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4790698" y="5932387"/>
            <a:ext cx="1270314" cy="1270314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4AEDA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5016303" y="6119661"/>
            <a:ext cx="819103" cy="819103"/>
          </a:xfrm>
          <a:custGeom>
            <a:avLst/>
            <a:gdLst/>
            <a:ahLst/>
            <a:cxnLst/>
            <a:rect l="l" t="t" r="r" b="b"/>
            <a:pathLst>
              <a:path w="819103" h="819103">
                <a:moveTo>
                  <a:pt x="0" y="0"/>
                </a:moveTo>
                <a:lnTo>
                  <a:pt x="819103" y="0"/>
                </a:lnTo>
                <a:lnTo>
                  <a:pt x="819103" y="819103"/>
                </a:lnTo>
                <a:lnTo>
                  <a:pt x="0" y="8191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1718318" y="2905107"/>
            <a:ext cx="1479511" cy="1479511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22917" y="3009705"/>
            <a:ext cx="1270314" cy="1270314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8C13A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2057817" y="3244606"/>
            <a:ext cx="800513" cy="800513"/>
          </a:xfrm>
          <a:custGeom>
            <a:avLst/>
            <a:gdLst/>
            <a:ahLst/>
            <a:cxnLst/>
            <a:rect l="l" t="t" r="r" b="b"/>
            <a:pathLst>
              <a:path w="800513" h="800513">
                <a:moveTo>
                  <a:pt x="0" y="0"/>
                </a:moveTo>
                <a:lnTo>
                  <a:pt x="800513" y="0"/>
                </a:lnTo>
                <a:lnTo>
                  <a:pt x="800513" y="800513"/>
                </a:lnTo>
                <a:lnTo>
                  <a:pt x="0" y="8005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32" name="Group 32"/>
          <p:cNvGrpSpPr/>
          <p:nvPr/>
        </p:nvGrpSpPr>
        <p:grpSpPr>
          <a:xfrm>
            <a:off x="11822917" y="5808009"/>
            <a:ext cx="1479511" cy="1479511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927515" y="5912608"/>
            <a:ext cx="1270314" cy="1270314"/>
            <a:chOff x="0" y="0"/>
            <a:chExt cx="812800" cy="81280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635D3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38" name="Freeform 38"/>
          <p:cNvSpPr/>
          <p:nvPr/>
        </p:nvSpPr>
        <p:spPr>
          <a:xfrm>
            <a:off x="12097391" y="6082484"/>
            <a:ext cx="930561" cy="930561"/>
          </a:xfrm>
          <a:custGeom>
            <a:avLst/>
            <a:gdLst/>
            <a:ahLst/>
            <a:cxnLst/>
            <a:rect l="l" t="t" r="r" b="b"/>
            <a:pathLst>
              <a:path w="930561" h="930561">
                <a:moveTo>
                  <a:pt x="0" y="0"/>
                </a:moveTo>
                <a:lnTo>
                  <a:pt x="930562" y="0"/>
                </a:lnTo>
                <a:lnTo>
                  <a:pt x="930562" y="930561"/>
                </a:lnTo>
                <a:lnTo>
                  <a:pt x="0" y="9305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39" name="Group 39"/>
          <p:cNvGrpSpPr/>
          <p:nvPr/>
        </p:nvGrpSpPr>
        <p:grpSpPr>
          <a:xfrm>
            <a:off x="8110782" y="7276832"/>
            <a:ext cx="1479511" cy="1479511"/>
            <a:chOff x="0" y="0"/>
            <a:chExt cx="812800" cy="81280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1" name="TextBox 4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215381" y="7381430"/>
            <a:ext cx="1270314" cy="1270314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1276F"/>
            </a:solidFill>
          </p:spPr>
        </p:sp>
        <p:sp>
          <p:nvSpPr>
            <p:cNvPr id="44" name="TextBox 4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45" name="Freeform 45"/>
          <p:cNvSpPr/>
          <p:nvPr/>
        </p:nvSpPr>
        <p:spPr>
          <a:xfrm>
            <a:off x="8344156" y="7504520"/>
            <a:ext cx="1012763" cy="1012763"/>
          </a:xfrm>
          <a:custGeom>
            <a:avLst/>
            <a:gdLst/>
            <a:ahLst/>
            <a:cxnLst/>
            <a:rect l="l" t="t" r="r" b="b"/>
            <a:pathLst>
              <a:path w="1012763" h="1012763">
                <a:moveTo>
                  <a:pt x="0" y="0"/>
                </a:moveTo>
                <a:lnTo>
                  <a:pt x="1012763" y="0"/>
                </a:lnTo>
                <a:lnTo>
                  <a:pt x="1012763" y="1012764"/>
                </a:lnTo>
                <a:lnTo>
                  <a:pt x="0" y="10127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grpSp>
        <p:nvGrpSpPr>
          <p:cNvPr id="51" name="Group 51"/>
          <p:cNvGrpSpPr/>
          <p:nvPr/>
        </p:nvGrpSpPr>
        <p:grpSpPr>
          <a:xfrm>
            <a:off x="2004185" y="8870642"/>
            <a:ext cx="14723630" cy="1243068"/>
            <a:chOff x="0" y="0"/>
            <a:chExt cx="3025892" cy="25546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025892" cy="255466"/>
            </a:xfrm>
            <a:custGeom>
              <a:avLst/>
              <a:gdLst/>
              <a:ahLst/>
              <a:cxnLst/>
              <a:rect l="l" t="t" r="r" b="b"/>
              <a:pathLst>
                <a:path w="3025892" h="255466">
                  <a:moveTo>
                    <a:pt x="8413" y="0"/>
                  </a:moveTo>
                  <a:lnTo>
                    <a:pt x="3017479" y="0"/>
                  </a:lnTo>
                  <a:cubicBezTo>
                    <a:pt x="3019710" y="0"/>
                    <a:pt x="3021850" y="886"/>
                    <a:pt x="3023428" y="2464"/>
                  </a:cubicBezTo>
                  <a:cubicBezTo>
                    <a:pt x="3025006" y="4042"/>
                    <a:pt x="3025892" y="6182"/>
                    <a:pt x="3025892" y="8413"/>
                  </a:cubicBezTo>
                  <a:lnTo>
                    <a:pt x="3025892" y="247053"/>
                  </a:lnTo>
                  <a:cubicBezTo>
                    <a:pt x="3025892" y="251700"/>
                    <a:pt x="3022125" y="255466"/>
                    <a:pt x="3017479" y="255466"/>
                  </a:cubicBezTo>
                  <a:lnTo>
                    <a:pt x="8413" y="255466"/>
                  </a:lnTo>
                  <a:cubicBezTo>
                    <a:pt x="6182" y="255466"/>
                    <a:pt x="4042" y="254580"/>
                    <a:pt x="2464" y="253002"/>
                  </a:cubicBezTo>
                  <a:cubicBezTo>
                    <a:pt x="886" y="251424"/>
                    <a:pt x="0" y="249284"/>
                    <a:pt x="0" y="247053"/>
                  </a:cubicBezTo>
                  <a:lnTo>
                    <a:pt x="0" y="8413"/>
                  </a:lnTo>
                  <a:cubicBezTo>
                    <a:pt x="0" y="6182"/>
                    <a:pt x="886" y="4042"/>
                    <a:pt x="2464" y="2464"/>
                  </a:cubicBezTo>
                  <a:cubicBezTo>
                    <a:pt x="4042" y="886"/>
                    <a:pt x="6182" y="0"/>
                    <a:pt x="8413" y="0"/>
                  </a:cubicBezTo>
                  <a:close/>
                </a:path>
              </a:pathLst>
            </a:custGeom>
            <a:solidFill>
              <a:srgbClr val="01276F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0" y="-66675"/>
              <a:ext cx="3025892" cy="3221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54" name="Freeform 54"/>
          <p:cNvSpPr/>
          <p:nvPr/>
        </p:nvSpPr>
        <p:spPr>
          <a:xfrm>
            <a:off x="15750774" y="9130219"/>
            <a:ext cx="651101" cy="651101"/>
          </a:xfrm>
          <a:custGeom>
            <a:avLst/>
            <a:gdLst/>
            <a:ahLst/>
            <a:cxnLst/>
            <a:rect l="l" t="t" r="r" b="b"/>
            <a:pathLst>
              <a:path w="651101" h="651101">
                <a:moveTo>
                  <a:pt x="0" y="0"/>
                </a:moveTo>
                <a:lnTo>
                  <a:pt x="651101" y="0"/>
                </a:lnTo>
                <a:lnTo>
                  <a:pt x="651101" y="651101"/>
                </a:lnTo>
                <a:lnTo>
                  <a:pt x="0" y="6511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2450396" y="9044647"/>
            <a:ext cx="822246" cy="822246"/>
          </a:xfrm>
          <a:custGeom>
            <a:avLst/>
            <a:gdLst/>
            <a:ahLst/>
            <a:cxnLst/>
            <a:rect l="l" t="t" r="r" b="b"/>
            <a:pathLst>
              <a:path w="822246" h="822246">
                <a:moveTo>
                  <a:pt x="0" y="0"/>
                </a:moveTo>
                <a:lnTo>
                  <a:pt x="822246" y="0"/>
                </a:lnTo>
                <a:lnTo>
                  <a:pt x="822246" y="822245"/>
                </a:lnTo>
                <a:lnTo>
                  <a:pt x="0" y="8222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1725980" y="5791339"/>
            <a:ext cx="2917320" cy="1129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b="1" i="1">
                <a:solidFill>
                  <a:srgbClr val="01276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Иш ўринларини яратиш ва солиқ тушумлари мониторинги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132102" y="1721383"/>
            <a:ext cx="10440171" cy="565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9"/>
              </a:lnSpc>
            </a:pPr>
            <a:r>
              <a:rPr lang="en-US" sz="3249">
                <a:solidFill>
                  <a:srgbClr val="01276F"/>
                </a:solidFill>
                <a:latin typeface="Cambria"/>
                <a:ea typeface="Cambria"/>
                <a:cs typeface="Cambria"/>
                <a:sym typeface="Cambria"/>
              </a:rPr>
              <a:t>ИНВЕСТИЦИЯ ЛОЙИҲАЛАРИНИ МОНИТОРИНГ ҚИЛИШ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5600723" y="181378"/>
            <a:ext cx="2254183" cy="66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1"/>
              </a:lnSpc>
              <a:spcBef>
                <a:spcPct val="0"/>
              </a:spcBef>
            </a:pP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Invest</a:t>
            </a:r>
            <a:r>
              <a:rPr lang="en-US" sz="3765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sta Pro"/>
                <a:ea typeface="Arista Pro"/>
                <a:cs typeface="Arista Pro"/>
                <a:sym typeface="Arista Pro"/>
              </a:rPr>
              <a:t>AI</a:t>
            </a: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.uz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929958" y="1684377"/>
            <a:ext cx="562771" cy="67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26"/>
              </a:lnSpc>
            </a:pPr>
            <a:r>
              <a:rPr lang="en-US" sz="3733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05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813982" y="3234285"/>
            <a:ext cx="2917320" cy="84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z="2126" b="1" i="1">
                <a:solidFill>
                  <a:srgbClr val="01276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Лойиҳалар </a:t>
            </a:r>
          </a:p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b="1" i="1">
                <a:solidFill>
                  <a:srgbClr val="01276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доимий назорат остида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3644700" y="3234285"/>
            <a:ext cx="2917320" cy="849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b="1" i="1">
                <a:solidFill>
                  <a:srgbClr val="01276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Далолатномалар ва ҳужжатларни юритувчи тизими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3644700" y="6277270"/>
            <a:ext cx="2917320" cy="56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b="1" i="1">
                <a:solidFill>
                  <a:srgbClr val="01276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Интеграция барча ташкилотлар билан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9846463" y="7988786"/>
            <a:ext cx="4800049" cy="56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b="1" i="1">
                <a:solidFill>
                  <a:srgbClr val="01276F"/>
                </a:solidFill>
                <a:latin typeface="Inter Bold Italics"/>
                <a:ea typeface="Inter Bold Italics"/>
                <a:cs typeface="Inter Bold Italics"/>
                <a:sym typeface="Inter Bold Italics"/>
              </a:rPr>
              <a:t>AI асосида лойиҳларнинг самарадорлиги таҳлил қилинади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754541" y="9073222"/>
            <a:ext cx="11204757" cy="866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z="2126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Тармоқ жадвалига асосан ортда қолаётган ёки фаолияти тўхтаб қолган </a:t>
            </a:r>
          </a:p>
          <a:p>
            <a:pPr algn="ctr">
              <a:lnSpc>
                <a:spcPts val="2254"/>
              </a:lnSpc>
            </a:pPr>
            <a:r>
              <a:rPr lang="en-US" sz="2126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лойиҳалар бўйича туман ва шаҳар ҳокимликларига </a:t>
            </a:r>
            <a:r>
              <a:rPr lang="en-US" sz="2126" i="1">
                <a:solidFill>
                  <a:srgbClr val="FFCD53"/>
                </a:solidFill>
                <a:latin typeface="Inter Italics"/>
                <a:ea typeface="Inter Italics"/>
                <a:cs typeface="Inter Italics"/>
                <a:sym typeface="Inter Italics"/>
              </a:rPr>
              <a:t>автоматик тарзда сигналлар </a:t>
            </a:r>
          </a:p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i="1">
                <a:solidFill>
                  <a:srgbClr val="FFFFFF"/>
                </a:solidFill>
                <a:latin typeface="Inter Italics"/>
                <a:ea typeface="Inter Italics"/>
                <a:cs typeface="Inter Italics"/>
                <a:sym typeface="Inter Italics"/>
              </a:rPr>
              <a:t>бериб борилади.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11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999"/>
            </a:blip>
            <a:stretch>
              <a:fillRect t="-12481" b="-13074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3379022" y="1028700"/>
            <a:ext cx="4908978" cy="697862"/>
            <a:chOff x="0" y="0"/>
            <a:chExt cx="1292900" cy="18379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2900" cy="183799"/>
            </a:xfrm>
            <a:custGeom>
              <a:avLst/>
              <a:gdLst/>
              <a:ahLst/>
              <a:cxnLst/>
              <a:rect l="l" t="t" r="r" b="b"/>
              <a:pathLst>
                <a:path w="1292900" h="183799">
                  <a:moveTo>
                    <a:pt x="0" y="0"/>
                  </a:moveTo>
                  <a:lnTo>
                    <a:pt x="1292900" y="0"/>
                  </a:lnTo>
                  <a:lnTo>
                    <a:pt x="1292900" y="183799"/>
                  </a:lnTo>
                  <a:lnTo>
                    <a:pt x="0" y="183799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1292900" cy="250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1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3187478" y="1028700"/>
            <a:ext cx="16952172" cy="9258300"/>
            <a:chOff x="0" y="0"/>
            <a:chExt cx="1116192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16192" cy="609600"/>
            </a:xfrm>
            <a:custGeom>
              <a:avLst/>
              <a:gdLst/>
              <a:ahLst/>
              <a:cxnLst/>
              <a:rect l="l" t="t" r="r" b="b"/>
              <a:pathLst>
                <a:path w="1116192" h="609600">
                  <a:moveTo>
                    <a:pt x="203200" y="0"/>
                  </a:moveTo>
                  <a:lnTo>
                    <a:pt x="1116192" y="0"/>
                  </a:lnTo>
                  <a:lnTo>
                    <a:pt x="912992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01600" y="-66675"/>
              <a:ext cx="912992" cy="6762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9" name="AutoShape 9"/>
          <p:cNvSpPr/>
          <p:nvPr/>
        </p:nvSpPr>
        <p:spPr>
          <a:xfrm>
            <a:off x="279067" y="1358232"/>
            <a:ext cx="18008933" cy="19398"/>
          </a:xfrm>
          <a:prstGeom prst="line">
            <a:avLst/>
          </a:prstGeom>
          <a:ln w="19050" cap="flat">
            <a:solidFill>
              <a:srgbClr val="9D9D9D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890874" y="1726562"/>
            <a:ext cx="708560" cy="629369"/>
            <a:chOff x="0" y="0"/>
            <a:chExt cx="145618" cy="12934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5618" cy="129343"/>
            </a:xfrm>
            <a:custGeom>
              <a:avLst/>
              <a:gdLst/>
              <a:ahLst/>
              <a:cxnLst/>
              <a:rect l="l" t="t" r="r" b="b"/>
              <a:pathLst>
                <a:path w="145618" h="129343">
                  <a:moveTo>
                    <a:pt x="64672" y="0"/>
                  </a:moveTo>
                  <a:lnTo>
                    <a:pt x="80946" y="0"/>
                  </a:lnTo>
                  <a:cubicBezTo>
                    <a:pt x="98098" y="0"/>
                    <a:pt x="114548" y="6814"/>
                    <a:pt x="126676" y="18942"/>
                  </a:cubicBezTo>
                  <a:cubicBezTo>
                    <a:pt x="138804" y="31070"/>
                    <a:pt x="145618" y="47520"/>
                    <a:pt x="145618" y="64672"/>
                  </a:cubicBezTo>
                  <a:lnTo>
                    <a:pt x="145618" y="64672"/>
                  </a:lnTo>
                  <a:cubicBezTo>
                    <a:pt x="145618" y="100389"/>
                    <a:pt x="116663" y="129343"/>
                    <a:pt x="80946" y="129343"/>
                  </a:cubicBezTo>
                  <a:lnTo>
                    <a:pt x="64672" y="129343"/>
                  </a:lnTo>
                  <a:cubicBezTo>
                    <a:pt x="28954" y="129343"/>
                    <a:pt x="0" y="100389"/>
                    <a:pt x="0" y="64672"/>
                  </a:cubicBezTo>
                  <a:lnTo>
                    <a:pt x="0" y="64672"/>
                  </a:lnTo>
                  <a:cubicBezTo>
                    <a:pt x="0" y="28954"/>
                    <a:pt x="28954" y="0"/>
                    <a:pt x="64672" y="0"/>
                  </a:cubicBezTo>
                  <a:close/>
                </a:path>
              </a:pathLst>
            </a:custGeom>
            <a:solidFill>
              <a:srgbClr val="01276F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145618" cy="1960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609" y="2445329"/>
            <a:ext cx="7046569" cy="7046569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0691745" y="9589138"/>
            <a:ext cx="7596255" cy="697862"/>
            <a:chOff x="0" y="0"/>
            <a:chExt cx="2000660" cy="18379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00660" cy="183799"/>
            </a:xfrm>
            <a:custGeom>
              <a:avLst/>
              <a:gdLst/>
              <a:ahLst/>
              <a:cxnLst/>
              <a:rect l="l" t="t" r="r" b="b"/>
              <a:pathLst>
                <a:path w="2000660" h="183799">
                  <a:moveTo>
                    <a:pt x="0" y="0"/>
                  </a:moveTo>
                  <a:lnTo>
                    <a:pt x="2000660" y="0"/>
                  </a:lnTo>
                  <a:lnTo>
                    <a:pt x="2000660" y="183799"/>
                  </a:lnTo>
                  <a:lnTo>
                    <a:pt x="0" y="183799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2000660" cy="25047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1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2786922" y="5896787"/>
            <a:ext cx="5595392" cy="118644"/>
            <a:chOff x="0" y="0"/>
            <a:chExt cx="1473683" cy="3124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473683" cy="31248"/>
            </a:xfrm>
            <a:custGeom>
              <a:avLst/>
              <a:gdLst/>
              <a:ahLst/>
              <a:cxnLst/>
              <a:rect l="l" t="t" r="r" b="b"/>
              <a:pathLst>
                <a:path w="1473683" h="31248">
                  <a:moveTo>
                    <a:pt x="0" y="0"/>
                  </a:moveTo>
                  <a:lnTo>
                    <a:pt x="1473683" y="0"/>
                  </a:lnTo>
                  <a:lnTo>
                    <a:pt x="1473683" y="31248"/>
                  </a:lnTo>
                  <a:lnTo>
                    <a:pt x="0" y="31248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1473683" cy="97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1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 rot="-10800000">
            <a:off x="2792814" y="5915884"/>
            <a:ext cx="5587880" cy="122568"/>
            <a:chOff x="0" y="0"/>
            <a:chExt cx="1471705" cy="3228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471705" cy="32281"/>
            </a:xfrm>
            <a:custGeom>
              <a:avLst/>
              <a:gdLst/>
              <a:ahLst/>
              <a:cxnLst/>
              <a:rect l="l" t="t" r="r" b="b"/>
              <a:pathLst>
                <a:path w="1471705" h="32281">
                  <a:moveTo>
                    <a:pt x="0" y="0"/>
                  </a:moveTo>
                  <a:lnTo>
                    <a:pt x="1471705" y="0"/>
                  </a:lnTo>
                  <a:lnTo>
                    <a:pt x="1471705" y="32281"/>
                  </a:lnTo>
                  <a:lnTo>
                    <a:pt x="0" y="32281"/>
                  </a:ln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1471705" cy="9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51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3" name="Freeform 23"/>
          <p:cNvSpPr/>
          <p:nvPr/>
        </p:nvSpPr>
        <p:spPr>
          <a:xfrm>
            <a:off x="3777530" y="4199776"/>
            <a:ext cx="1035377" cy="1035377"/>
          </a:xfrm>
          <a:custGeom>
            <a:avLst/>
            <a:gdLst/>
            <a:ahLst/>
            <a:cxnLst/>
            <a:rect l="l" t="t" r="r" b="b"/>
            <a:pathLst>
              <a:path w="1035377" h="1035377">
                <a:moveTo>
                  <a:pt x="0" y="0"/>
                </a:moveTo>
                <a:lnTo>
                  <a:pt x="1035377" y="0"/>
                </a:lnTo>
                <a:lnTo>
                  <a:pt x="1035377" y="1035377"/>
                </a:lnTo>
                <a:lnTo>
                  <a:pt x="0" y="10353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3777530" y="6755099"/>
            <a:ext cx="1035377" cy="1035377"/>
          </a:xfrm>
          <a:custGeom>
            <a:avLst/>
            <a:gdLst/>
            <a:ahLst/>
            <a:cxnLst/>
            <a:rect l="l" t="t" r="r" b="b"/>
            <a:pathLst>
              <a:path w="1035377" h="1035377">
                <a:moveTo>
                  <a:pt x="0" y="0"/>
                </a:moveTo>
                <a:lnTo>
                  <a:pt x="1035377" y="0"/>
                </a:lnTo>
                <a:lnTo>
                  <a:pt x="1035377" y="1035376"/>
                </a:lnTo>
                <a:lnTo>
                  <a:pt x="0" y="10353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6358315" y="4147709"/>
            <a:ext cx="1134008" cy="1134008"/>
          </a:xfrm>
          <a:custGeom>
            <a:avLst/>
            <a:gdLst/>
            <a:ahLst/>
            <a:cxnLst/>
            <a:rect l="l" t="t" r="r" b="b"/>
            <a:pathLst>
              <a:path w="1134008" h="1134008">
                <a:moveTo>
                  <a:pt x="0" y="0"/>
                </a:moveTo>
                <a:lnTo>
                  <a:pt x="1134007" y="0"/>
                </a:lnTo>
                <a:lnTo>
                  <a:pt x="1134007" y="1134007"/>
                </a:lnTo>
                <a:lnTo>
                  <a:pt x="0" y="11340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6405874" y="6751587"/>
            <a:ext cx="1038888" cy="1038888"/>
          </a:xfrm>
          <a:custGeom>
            <a:avLst/>
            <a:gdLst/>
            <a:ahLst/>
            <a:cxnLst/>
            <a:rect l="l" t="t" r="r" b="b"/>
            <a:pathLst>
              <a:path w="1038888" h="1038888">
                <a:moveTo>
                  <a:pt x="0" y="0"/>
                </a:moveTo>
                <a:lnTo>
                  <a:pt x="1038889" y="0"/>
                </a:lnTo>
                <a:lnTo>
                  <a:pt x="1038889" y="1038888"/>
                </a:lnTo>
                <a:lnTo>
                  <a:pt x="0" y="1038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27" name="Group 27"/>
          <p:cNvGrpSpPr/>
          <p:nvPr/>
        </p:nvGrpSpPr>
        <p:grpSpPr>
          <a:xfrm>
            <a:off x="4668564" y="5061115"/>
            <a:ext cx="1832107" cy="1832107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432916" y="6932566"/>
            <a:ext cx="627942" cy="627614"/>
            <a:chOff x="0" y="0"/>
            <a:chExt cx="199910" cy="19980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9910" cy="199805"/>
            </a:xfrm>
            <a:custGeom>
              <a:avLst/>
              <a:gdLst/>
              <a:ahLst/>
              <a:cxnLst/>
              <a:rect l="l" t="t" r="r" b="b"/>
              <a:pathLst>
                <a:path w="199910" h="199805">
                  <a:moveTo>
                    <a:pt x="61645" y="0"/>
                  </a:moveTo>
                  <a:lnTo>
                    <a:pt x="138264" y="0"/>
                  </a:lnTo>
                  <a:cubicBezTo>
                    <a:pt x="172310" y="0"/>
                    <a:pt x="199910" y="27599"/>
                    <a:pt x="199910" y="61645"/>
                  </a:cubicBezTo>
                  <a:lnTo>
                    <a:pt x="199910" y="138160"/>
                  </a:lnTo>
                  <a:cubicBezTo>
                    <a:pt x="199910" y="172206"/>
                    <a:pt x="172310" y="199805"/>
                    <a:pt x="138264" y="199805"/>
                  </a:cubicBezTo>
                  <a:lnTo>
                    <a:pt x="61645" y="199805"/>
                  </a:lnTo>
                  <a:cubicBezTo>
                    <a:pt x="27599" y="199805"/>
                    <a:pt x="0" y="172206"/>
                    <a:pt x="0" y="138160"/>
                  </a:cubicBezTo>
                  <a:lnTo>
                    <a:pt x="0" y="61645"/>
                  </a:lnTo>
                  <a:cubicBezTo>
                    <a:pt x="0" y="27599"/>
                    <a:pt x="27599" y="0"/>
                    <a:pt x="61645" y="0"/>
                  </a:cubicBez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66675"/>
              <a:ext cx="199910" cy="266480"/>
            </a:xfrm>
            <a:prstGeom prst="rect">
              <a:avLst/>
            </a:prstGeom>
          </p:spPr>
          <p:txBody>
            <a:bodyPr lIns="42027" tIns="42027" rIns="42027" bIns="42027" rtlCol="0" anchor="ctr"/>
            <a:lstStyle/>
            <a:p>
              <a:pPr marL="0" lvl="0" indent="0" algn="ctr">
                <a:lnSpc>
                  <a:spcPts val="351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4079085" y="6932566"/>
            <a:ext cx="1466847" cy="120844"/>
            <a:chOff x="0" y="0"/>
            <a:chExt cx="466980" cy="3847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66980" cy="38472"/>
            </a:xfrm>
            <a:custGeom>
              <a:avLst/>
              <a:gdLst/>
              <a:ahLst/>
              <a:cxnLst/>
              <a:rect l="l" t="t" r="r" b="b"/>
              <a:pathLst>
                <a:path w="466980" h="38472">
                  <a:moveTo>
                    <a:pt x="19236" y="0"/>
                  </a:moveTo>
                  <a:lnTo>
                    <a:pt x="447745" y="0"/>
                  </a:lnTo>
                  <a:cubicBezTo>
                    <a:pt x="458368" y="0"/>
                    <a:pt x="466980" y="8612"/>
                    <a:pt x="466980" y="19236"/>
                  </a:cubicBezTo>
                  <a:lnTo>
                    <a:pt x="466980" y="19236"/>
                  </a:lnTo>
                  <a:cubicBezTo>
                    <a:pt x="466980" y="24337"/>
                    <a:pt x="464954" y="29230"/>
                    <a:pt x="461346" y="32838"/>
                  </a:cubicBezTo>
                  <a:cubicBezTo>
                    <a:pt x="457739" y="36445"/>
                    <a:pt x="452846" y="38472"/>
                    <a:pt x="447745" y="38472"/>
                  </a:cubicBezTo>
                  <a:lnTo>
                    <a:pt x="19236" y="38472"/>
                  </a:lnTo>
                  <a:cubicBezTo>
                    <a:pt x="8612" y="38472"/>
                    <a:pt x="0" y="29859"/>
                    <a:pt x="0" y="19236"/>
                  </a:cubicBezTo>
                  <a:lnTo>
                    <a:pt x="0" y="19236"/>
                  </a:lnTo>
                  <a:cubicBezTo>
                    <a:pt x="0" y="8612"/>
                    <a:pt x="8612" y="0"/>
                    <a:pt x="19236" y="0"/>
                  </a:cubicBezTo>
                  <a:close/>
                </a:path>
              </a:pathLst>
            </a:custGeom>
            <a:solidFill>
              <a:srgbClr val="FBFBFB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66675"/>
              <a:ext cx="466980" cy="105147"/>
            </a:xfrm>
            <a:prstGeom prst="rect">
              <a:avLst/>
            </a:prstGeom>
          </p:spPr>
          <p:txBody>
            <a:bodyPr lIns="42027" tIns="42027" rIns="42027" bIns="42027" rtlCol="0" anchor="ctr"/>
            <a:lstStyle/>
            <a:p>
              <a:pPr algn="ctr">
                <a:lnSpc>
                  <a:spcPts val="3517"/>
                </a:lnSpc>
              </a:pPr>
              <a:endParaRPr/>
            </a:p>
          </p:txBody>
        </p:sp>
      </p:grpSp>
      <p:sp>
        <p:nvSpPr>
          <p:cNvPr id="36" name="Freeform 36"/>
          <p:cNvSpPr/>
          <p:nvPr/>
        </p:nvSpPr>
        <p:spPr>
          <a:xfrm>
            <a:off x="5106333" y="5487608"/>
            <a:ext cx="979121" cy="979121"/>
          </a:xfrm>
          <a:custGeom>
            <a:avLst/>
            <a:gdLst/>
            <a:ahLst/>
            <a:cxnLst/>
            <a:rect l="l" t="t" r="r" b="b"/>
            <a:pathLst>
              <a:path w="979121" h="979121">
                <a:moveTo>
                  <a:pt x="0" y="0"/>
                </a:moveTo>
                <a:lnTo>
                  <a:pt x="979121" y="0"/>
                </a:lnTo>
                <a:lnTo>
                  <a:pt x="979121" y="979121"/>
                </a:lnTo>
                <a:lnTo>
                  <a:pt x="0" y="97912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2309503" y="7494876"/>
            <a:ext cx="5545403" cy="1639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967"/>
              </a:lnSpc>
              <a:spcBef>
                <a:spcPct val="0"/>
              </a:spcBef>
            </a:pPr>
            <a:r>
              <a:rPr lang="en-US" sz="9262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Invest</a:t>
            </a:r>
            <a:r>
              <a:rPr lang="en-US" sz="9262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sta Pro"/>
                <a:ea typeface="Arista Pro"/>
                <a:cs typeface="Arista Pro"/>
                <a:sym typeface="Arista Pro"/>
              </a:rPr>
              <a:t>AI</a:t>
            </a:r>
            <a:r>
              <a:rPr lang="en-US" sz="9262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.uz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5600723" y="181378"/>
            <a:ext cx="2254183" cy="668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71"/>
              </a:lnSpc>
              <a:spcBef>
                <a:spcPct val="0"/>
              </a:spcBef>
            </a:pP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Invest</a:t>
            </a:r>
            <a:r>
              <a:rPr lang="en-US" sz="3765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sta Pro"/>
                <a:ea typeface="Arista Pro"/>
                <a:cs typeface="Arista Pro"/>
                <a:sym typeface="Arista Pro"/>
              </a:rPr>
              <a:t>AI</a:t>
            </a:r>
            <a:r>
              <a:rPr lang="en-US" sz="3765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.uz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29958" y="1684377"/>
            <a:ext cx="562771" cy="671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226"/>
              </a:lnSpc>
            </a:pPr>
            <a:r>
              <a:rPr lang="en-US" sz="3733">
                <a:solidFill>
                  <a:srgbClr val="FFFFFF"/>
                </a:solidFill>
                <a:latin typeface="Arista Pro"/>
                <a:ea typeface="Arista Pro"/>
                <a:cs typeface="Arista Pro"/>
                <a:sym typeface="Arista Pro"/>
              </a:rPr>
              <a:t>04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14951" y="1712952"/>
            <a:ext cx="10440171" cy="565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49"/>
              </a:lnSpc>
            </a:pPr>
            <a:r>
              <a:rPr lang="en-US" sz="3249">
                <a:solidFill>
                  <a:srgbClr val="01276F"/>
                </a:solidFill>
                <a:latin typeface="Cambria"/>
                <a:ea typeface="Cambria"/>
                <a:cs typeface="Cambria"/>
                <a:sym typeface="Cambria"/>
              </a:rPr>
              <a:t>НАТИЖА ВА АФЗАЛЛИКЛАР 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371540" y="3035450"/>
            <a:ext cx="4348783" cy="32459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305"/>
              </a:lnSpc>
              <a:spcBef>
                <a:spcPct val="0"/>
              </a:spcBef>
            </a:pPr>
            <a:r>
              <a:rPr lang="en-US" sz="3075" u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Вилоят, туман ва </a:t>
            </a:r>
          </a:p>
          <a:p>
            <a:pPr marL="0" lvl="0" indent="0" algn="ctr">
              <a:lnSpc>
                <a:spcPts val="4305"/>
              </a:lnSpc>
              <a:spcBef>
                <a:spcPct val="0"/>
              </a:spcBef>
            </a:pPr>
            <a:r>
              <a:rPr lang="en-US" sz="3075" u="none" strike="noStrik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rPr>
              <a:t>шаҳар ҳокимликлари учун интеграциялашган ва натижага йўналтирилган рақамли AI платформа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5054" y="3186988"/>
            <a:ext cx="3089075" cy="143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4"/>
              </a:lnSpc>
            </a:pPr>
            <a:r>
              <a:rPr lang="en-US" sz="2126" b="1">
                <a:solidFill>
                  <a:srgbClr val="0BB204"/>
                </a:solidFill>
                <a:latin typeface="Inter Bold"/>
                <a:ea typeface="Inter Bold"/>
                <a:cs typeface="Inter Bold"/>
                <a:sym typeface="Inter Bold"/>
              </a:rPr>
              <a:t>ИНВЕСТИЦИЯЛАРНИ ЖАЛБ ҚИЛИШ ШАФФОФ ВА ТИЗИМЛИ </a:t>
            </a:r>
          </a:p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b="1">
                <a:solidFill>
                  <a:srgbClr val="0BB204"/>
                </a:solidFill>
                <a:latin typeface="Inter Bold"/>
                <a:ea typeface="Inter Bold"/>
                <a:cs typeface="Inter Bold"/>
                <a:sym typeface="Inter Bold"/>
              </a:rPr>
              <a:t>БЎЛАДИ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28700" y="8062202"/>
            <a:ext cx="2441784" cy="115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b="1">
                <a:solidFill>
                  <a:srgbClr val="004AAD"/>
                </a:solidFill>
                <a:latin typeface="Inter Bold"/>
                <a:ea typeface="Inter Bold"/>
                <a:cs typeface="Inter Bold"/>
                <a:sym typeface="Inter Bold"/>
              </a:rPr>
              <a:t>ҚАРОР ҚАБУЛ ҚИЛИШ ЖАРАЁНЛАРИ ТЕЗЛАШАДИ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8096957" y="7776452"/>
            <a:ext cx="2712358" cy="1437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b="1">
                <a:solidFill>
                  <a:srgbClr val="EFA13B"/>
                </a:solidFill>
                <a:latin typeface="Inter Bold"/>
                <a:ea typeface="Inter Bold"/>
                <a:cs typeface="Inter Bold"/>
                <a:sym typeface="Inter Bold"/>
              </a:rPr>
              <a:t>МАЪЛУМОТЛАРГА АСОСЛАНГАН БОШҚАРУВ ТИЗИМИ ШАКЛЛАНАДИ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06697" y="3186988"/>
            <a:ext cx="2602618" cy="1152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54"/>
              </a:lnSpc>
              <a:spcBef>
                <a:spcPct val="0"/>
              </a:spcBef>
            </a:pPr>
            <a:r>
              <a:rPr lang="en-US" sz="2126" b="1">
                <a:solidFill>
                  <a:srgbClr val="8635D3"/>
                </a:solidFill>
                <a:latin typeface="Inter Bold"/>
                <a:ea typeface="Inter Bold"/>
                <a:cs typeface="Inter Bold"/>
                <a:sym typeface="Inter Bold"/>
              </a:rPr>
              <a:t>ИДОРАЛАРАРО ҲАМКОРЛИК САМАРАДОРЛИГИ ОШАДИ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4079085" y="7056925"/>
            <a:ext cx="1353831" cy="593677"/>
            <a:chOff x="0" y="0"/>
            <a:chExt cx="1805108" cy="791569"/>
          </a:xfrm>
        </p:grpSpPr>
        <p:sp>
          <p:nvSpPr>
            <p:cNvPr id="47" name="TextBox 47"/>
            <p:cNvSpPr txBox="1"/>
            <p:nvPr/>
          </p:nvSpPr>
          <p:spPr>
            <a:xfrm>
              <a:off x="0" y="-104775"/>
              <a:ext cx="1727638" cy="896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63"/>
                </a:lnSpc>
                <a:spcBef>
                  <a:spcPct val="0"/>
                </a:spcBef>
              </a:pPr>
              <a:r>
                <a:rPr lang="en-US" sz="3902">
                  <a:gradFill>
                    <a:gsLst>
                      <a:gs pos="0">
                        <a:srgbClr val="CDFFD8">
                          <a:alpha val="100000"/>
                        </a:srgbClr>
                      </a:gs>
                      <a:gs pos="100000">
                        <a:srgbClr val="94B9FF">
                          <a:alpha val="100000"/>
                        </a:srgbClr>
                      </a:gs>
                    </a:gsLst>
                    <a:lin ang="0"/>
                  </a:gradFill>
                  <a:latin typeface="Arista Pro"/>
                  <a:ea typeface="Arista Pro"/>
                  <a:cs typeface="Arista Pro"/>
                  <a:sym typeface="Arista Pro"/>
                </a:rPr>
                <a:t>Invest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2695" y="-104775"/>
              <a:ext cx="1762413" cy="8963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463"/>
                </a:lnSpc>
                <a:spcBef>
                  <a:spcPct val="0"/>
                </a:spcBef>
              </a:pPr>
              <a:r>
                <a:rPr lang="en-US" sz="3902">
                  <a:solidFill>
                    <a:srgbClr val="FBFBFB"/>
                  </a:solidFill>
                  <a:latin typeface="Arista Pro"/>
                  <a:ea typeface="Arista Pro"/>
                  <a:cs typeface="Arista Pro"/>
                  <a:sym typeface="Arista Pro"/>
                </a:rPr>
                <a:t>Invest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5458345" y="6984051"/>
            <a:ext cx="626980" cy="739424"/>
            <a:chOff x="0" y="0"/>
            <a:chExt cx="835973" cy="985899"/>
          </a:xfrm>
        </p:grpSpPr>
        <p:sp>
          <p:nvSpPr>
            <p:cNvPr id="50" name="TextBox 50"/>
            <p:cNvSpPr txBox="1"/>
            <p:nvPr/>
          </p:nvSpPr>
          <p:spPr>
            <a:xfrm>
              <a:off x="0" y="-114300"/>
              <a:ext cx="776536" cy="11001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94"/>
                </a:lnSpc>
                <a:spcBef>
                  <a:spcPct val="0"/>
                </a:spcBef>
              </a:pPr>
              <a:r>
                <a:rPr lang="en-US" sz="4853">
                  <a:gradFill>
                    <a:gsLst>
                      <a:gs pos="0">
                        <a:srgbClr val="CDFFD8">
                          <a:alpha val="100000"/>
                        </a:srgbClr>
                      </a:gs>
                      <a:gs pos="100000">
                        <a:srgbClr val="94B9FF">
                          <a:alpha val="100000"/>
                        </a:srgbClr>
                      </a:gs>
                    </a:gsLst>
                    <a:lin ang="0"/>
                  </a:gradFill>
                  <a:latin typeface="Arista Pro"/>
                  <a:ea typeface="Arista Pro"/>
                  <a:cs typeface="Arista Pro"/>
                  <a:sym typeface="Arista Pro"/>
                </a:rPr>
                <a:t>AI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9437" y="-114300"/>
              <a:ext cx="776536" cy="11001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794"/>
                </a:lnSpc>
                <a:spcBef>
                  <a:spcPct val="0"/>
                </a:spcBef>
              </a:pPr>
              <a:r>
                <a:rPr lang="en-US" sz="4853">
                  <a:solidFill>
                    <a:srgbClr val="01112B"/>
                  </a:solidFill>
                  <a:latin typeface="Arista Pro"/>
                  <a:ea typeface="Arista Pro"/>
                  <a:cs typeface="Arista Pro"/>
                  <a:sym typeface="Arista Pro"/>
                </a:rPr>
                <a:t>AI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286</Words>
  <Application>Microsoft Office PowerPoint</Application>
  <PresentationFormat>Произвольный</PresentationFormat>
  <Paragraphs>78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8" baseType="lpstr">
      <vt:lpstr>Cambria</vt:lpstr>
      <vt:lpstr>Inter</vt:lpstr>
      <vt:lpstr>Arista Pro</vt:lpstr>
      <vt:lpstr>Tahoma</vt:lpstr>
      <vt:lpstr>Arial Nova</vt:lpstr>
      <vt:lpstr>Arial</vt:lpstr>
      <vt:lpstr>Inter Italics</vt:lpstr>
      <vt:lpstr>Inter Bold</vt:lpstr>
      <vt:lpstr>Cambria Bold</vt:lpstr>
      <vt:lpstr>Calibri</vt:lpstr>
      <vt:lpstr>Inter Bold Italics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InvestAI.uz</dc:title>
  <cp:lastModifiedBy>Пользователь</cp:lastModifiedBy>
  <cp:revision>2</cp:revision>
  <dcterms:created xsi:type="dcterms:W3CDTF">2006-08-16T00:00:00Z</dcterms:created>
  <dcterms:modified xsi:type="dcterms:W3CDTF">2026-04-23T11:44:39Z</dcterms:modified>
  <dc:identifier>DAHHptXy9bo</dc:identifier>
</cp:coreProperties>
</file>